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sldIdLst>
    <p:sldId id="259" r:id="rId5"/>
    <p:sldId id="273" r:id="rId6"/>
    <p:sldId id="276" r:id="rId7"/>
    <p:sldId id="277" r:id="rId8"/>
    <p:sldId id="278" r:id="rId9"/>
    <p:sldId id="279" r:id="rId10"/>
    <p:sldId id="280" r:id="rId11"/>
    <p:sldId id="281" r:id="rId12"/>
    <p:sldId id="282" r:id="rId13"/>
    <p:sldId id="283" r:id="rId14"/>
    <p:sldId id="284" r:id="rId15"/>
    <p:sldId id="285" r:id="rId16"/>
    <p:sldId id="319"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311" r:id="rId43"/>
    <p:sldId id="312" r:id="rId44"/>
    <p:sldId id="313" r:id="rId45"/>
    <p:sldId id="314" r:id="rId46"/>
    <p:sldId id="315" r:id="rId47"/>
    <p:sldId id="316" r:id="rId48"/>
    <p:sldId id="317" r:id="rId49"/>
    <p:sldId id="31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18" dt="2026-10-18T19:53:53.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microsoft.com/office/2016/11/relationships/changesInfo" Target="changesInfos/changesInfo1.xml"/><Relationship Id="rId5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non J Benjamin" userId="S::owb0346@ads.northwestern.edu::4d8eca9d-d428-48b2-ac32-a21647b4cf50" providerId="AD" clId="Web-{00000000-0000-0000-0000-000000000000}"/>
    <pc:docChg chg="addSld modSld">
      <pc:chgData name="Kynon J Benjamin" userId="S::owb0346@ads.northwestern.edu::4d8eca9d-d428-48b2-ac32-a21647b4cf50" providerId="AD" clId="Web-{00000000-0000-0000-0000-000000000000}" dt="2026-10-18T19:53:53.157" v="222" actId="1076"/>
      <pc:docMkLst>
        <pc:docMk/>
      </pc:docMkLst>
      <pc:sldChg chg="addSp modSp">
        <pc:chgData name="Kynon J Benjamin" userId="S::owb0346@ads.northwestern.edu::4d8eca9d-d428-48b2-ac32-a21647b4cf50" providerId="AD" clId="Web-{00000000-0000-0000-0000-000000000000}" dt="2026-10-18T19:53:53.157" v="222" actId="1076"/>
        <pc:sldMkLst>
          <pc:docMk/>
          <pc:sldMk cId="0" sldId="277"/>
        </pc:sldMkLst>
        <pc:spChg chg="mod">
          <ac:chgData name="Kynon J Benjamin" userId="S::owb0346@ads.northwestern.edu::4d8eca9d-d428-48b2-ac32-a21647b4cf50" providerId="AD" clId="Web-{00000000-0000-0000-0000-000000000000}" dt="2026-10-18T19:53:53.157" v="222" actId="1076"/>
          <ac:spMkLst>
            <pc:docMk/>
            <pc:sldMk cId="0" sldId="277"/>
            <ac:spMk id="3" creationId="{00000000-0000-0000-0000-000000000000}"/>
          </ac:spMkLst>
        </pc:spChg>
        <pc:spChg chg="mod">
          <ac:chgData name="Kynon J Benjamin" userId="S::owb0346@ads.northwestern.edu::4d8eca9d-d428-48b2-ac32-a21647b4cf50" providerId="AD" clId="Web-{00000000-0000-0000-0000-000000000000}" dt="2026-10-18T19:53:19.938" v="216" actId="1076"/>
          <ac:spMkLst>
            <pc:docMk/>
            <pc:sldMk cId="0" sldId="277"/>
            <ac:spMk id="4" creationId="{00000000-0000-0000-0000-000000000000}"/>
          </ac:spMkLst>
        </pc:spChg>
        <pc:spChg chg="mod">
          <ac:chgData name="Kynon J Benjamin" userId="S::owb0346@ads.northwestern.edu::4d8eca9d-d428-48b2-ac32-a21647b4cf50" providerId="AD" clId="Web-{00000000-0000-0000-0000-000000000000}" dt="2026-10-18T19:53:42.438" v="219" actId="14100"/>
          <ac:spMkLst>
            <pc:docMk/>
            <pc:sldMk cId="0" sldId="277"/>
            <ac:spMk id="5" creationId="{00000000-0000-0000-0000-000000000000}"/>
          </ac:spMkLst>
        </pc:spChg>
        <pc:picChg chg="add mod">
          <ac:chgData name="Kynon J Benjamin" userId="S::owb0346@ads.northwestern.edu::4d8eca9d-d428-48b2-ac32-a21647b4cf50" providerId="AD" clId="Web-{00000000-0000-0000-0000-000000000000}" dt="2026-10-18T19:53:08.954" v="214" actId="1076"/>
          <ac:picMkLst>
            <pc:docMk/>
            <pc:sldMk cId="0" sldId="277"/>
            <ac:picMk id="6" creationId="{9BD2AA7D-33CB-7EBE-E83F-378A514273FA}"/>
          </ac:picMkLst>
        </pc:picChg>
      </pc:sldChg>
      <pc:sldChg chg="addSp delSp modSp">
        <pc:chgData name="Kynon J Benjamin" userId="S::owb0346@ads.northwestern.edu::4d8eca9d-d428-48b2-ac32-a21647b4cf50" providerId="AD" clId="Web-{00000000-0000-0000-0000-000000000000}" dt="2026-10-18T19:30:44.267" v="78" actId="1076"/>
        <pc:sldMkLst>
          <pc:docMk/>
          <pc:sldMk cId="0" sldId="285"/>
        </pc:sldMkLst>
        <pc:spChg chg="mod">
          <ac:chgData name="Kynon J Benjamin" userId="S::owb0346@ads.northwestern.edu::4d8eca9d-d428-48b2-ac32-a21647b4cf50" providerId="AD" clId="Web-{00000000-0000-0000-0000-000000000000}" dt="2026-10-18T19:30:27.798" v="73" actId="1076"/>
          <ac:spMkLst>
            <pc:docMk/>
            <pc:sldMk cId="0" sldId="285"/>
            <ac:spMk id="2" creationId="{00000000-0000-0000-0000-000000000000}"/>
          </ac:spMkLst>
        </pc:spChg>
        <pc:spChg chg="mod">
          <ac:chgData name="Kynon J Benjamin" userId="S::owb0346@ads.northwestern.edu::4d8eca9d-d428-48b2-ac32-a21647b4cf50" providerId="AD" clId="Web-{00000000-0000-0000-0000-000000000000}" dt="2026-10-18T19:30:44.267" v="78" actId="1076"/>
          <ac:spMkLst>
            <pc:docMk/>
            <pc:sldMk cId="0" sldId="285"/>
            <ac:spMk id="3" creationId="{1AC4D52D-97D1-555A-C6AE-DF946D34C26B}"/>
          </ac:spMkLst>
        </pc:spChg>
        <pc:spChg chg="add del mod">
          <ac:chgData name="Kynon J Benjamin" userId="S::owb0346@ads.northwestern.edu::4d8eca9d-d428-48b2-ac32-a21647b4cf50" providerId="AD" clId="Web-{00000000-0000-0000-0000-000000000000}" dt="2026-10-18T19:28:09.689" v="51"/>
          <ac:spMkLst>
            <pc:docMk/>
            <pc:sldMk cId="0" sldId="285"/>
            <ac:spMk id="6" creationId="{564D957F-8DDE-C668-92DE-A9D1373BA5F9}"/>
          </ac:spMkLst>
        </pc:spChg>
        <pc:spChg chg="add del mod">
          <ac:chgData name="Kynon J Benjamin" userId="S::owb0346@ads.northwestern.edu::4d8eca9d-d428-48b2-ac32-a21647b4cf50" providerId="AD" clId="Web-{00000000-0000-0000-0000-000000000000}" dt="2026-10-18T19:28:01.736" v="49"/>
          <ac:spMkLst>
            <pc:docMk/>
            <pc:sldMk cId="0" sldId="285"/>
            <ac:spMk id="9" creationId="{C09A04E6-9C81-D3F5-5C75-EEEB59820750}"/>
          </ac:spMkLst>
        </pc:spChg>
        <pc:spChg chg="add del mod">
          <ac:chgData name="Kynon J Benjamin" userId="S::owb0346@ads.northwestern.edu::4d8eca9d-d428-48b2-ac32-a21647b4cf50" providerId="AD" clId="Web-{00000000-0000-0000-0000-000000000000}" dt="2026-10-18T19:28:18.158" v="55"/>
          <ac:spMkLst>
            <pc:docMk/>
            <pc:sldMk cId="0" sldId="285"/>
            <ac:spMk id="10" creationId="{11DDBD0F-2B29-FBF4-B593-6BF9035DA336}"/>
          </ac:spMkLst>
        </pc:spChg>
        <pc:spChg chg="mod">
          <ac:chgData name="Kynon J Benjamin" userId="S::owb0346@ads.northwestern.edu::4d8eca9d-d428-48b2-ac32-a21647b4cf50" providerId="AD" clId="Web-{00000000-0000-0000-0000-000000000000}" dt="2026-10-18T19:25:42.377" v="31" actId="1076"/>
          <ac:spMkLst>
            <pc:docMk/>
            <pc:sldMk cId="0" sldId="285"/>
            <ac:spMk id="18437" creationId="{68FAD33A-45CC-8B08-0A54-B2556E892ADB}"/>
          </ac:spMkLst>
        </pc:spChg>
        <pc:grpChg chg="add del mod">
          <ac:chgData name="Kynon J Benjamin" userId="S::owb0346@ads.northwestern.edu::4d8eca9d-d428-48b2-ac32-a21647b4cf50" providerId="AD" clId="Web-{00000000-0000-0000-0000-000000000000}" dt="2026-10-18T19:29:05.424" v="57"/>
          <ac:grpSpMkLst>
            <pc:docMk/>
            <pc:sldMk cId="0" sldId="285"/>
            <ac:grpSpMk id="5" creationId="{D3114FAF-DA62-82FA-3615-5AD75F35C630}"/>
          </ac:grpSpMkLst>
        </pc:grpChg>
        <pc:picChg chg="del mod topLvl">
          <ac:chgData name="Kynon J Benjamin" userId="S::owb0346@ads.northwestern.edu::4d8eca9d-d428-48b2-ac32-a21647b4cf50" providerId="AD" clId="Web-{00000000-0000-0000-0000-000000000000}" dt="2026-10-18T19:29:10.002" v="58"/>
          <ac:picMkLst>
            <pc:docMk/>
            <pc:sldMk cId="0" sldId="285"/>
            <ac:picMk id="4" creationId="{63D341EB-EF01-2F21-C6A5-BD82B141170D}"/>
          </ac:picMkLst>
        </pc:picChg>
        <pc:picChg chg="mod topLvl">
          <ac:chgData name="Kynon J Benjamin" userId="S::owb0346@ads.northwestern.edu::4d8eca9d-d428-48b2-ac32-a21647b4cf50" providerId="AD" clId="Web-{00000000-0000-0000-0000-000000000000}" dt="2026-10-18T19:30:34.111" v="75" actId="1076"/>
          <ac:picMkLst>
            <pc:docMk/>
            <pc:sldMk cId="0" sldId="285"/>
            <ac:picMk id="7" creationId="{B707D2AD-A4D2-25CA-1659-96C8945DE51B}"/>
          </ac:picMkLst>
        </pc:picChg>
        <pc:picChg chg="del mod topLvl">
          <ac:chgData name="Kynon J Benjamin" userId="S::owb0346@ads.northwestern.edu::4d8eca9d-d428-48b2-ac32-a21647b4cf50" providerId="AD" clId="Web-{00000000-0000-0000-0000-000000000000}" dt="2026-10-18T19:29:10.002" v="59"/>
          <ac:picMkLst>
            <pc:docMk/>
            <pc:sldMk cId="0" sldId="285"/>
            <ac:picMk id="8" creationId="{64D7980C-18C5-EE17-AC4A-CFDFE17EAE18}"/>
          </ac:picMkLst>
        </pc:picChg>
      </pc:sldChg>
      <pc:sldChg chg="modSp">
        <pc:chgData name="Kynon J Benjamin" userId="S::owb0346@ads.northwestern.edu::4d8eca9d-d428-48b2-ac32-a21647b4cf50" providerId="AD" clId="Web-{00000000-0000-0000-0000-000000000000}" dt="2026-10-18T19:33:45.830" v="99" actId="1076"/>
        <pc:sldMkLst>
          <pc:docMk/>
          <pc:sldMk cId="0" sldId="291"/>
        </pc:sldMkLst>
        <pc:spChg chg="mod">
          <ac:chgData name="Kynon J Benjamin" userId="S::owb0346@ads.northwestern.edu::4d8eca9d-d428-48b2-ac32-a21647b4cf50" providerId="AD" clId="Web-{00000000-0000-0000-0000-000000000000}" dt="2026-10-18T19:33:13.564" v="95" actId="1076"/>
          <ac:spMkLst>
            <pc:docMk/>
            <pc:sldMk cId="0" sldId="291"/>
            <ac:spMk id="6" creationId="{AB889E75-1D1C-598C-FBBD-5C14DB23A66E}"/>
          </ac:spMkLst>
        </pc:spChg>
        <pc:picChg chg="mod">
          <ac:chgData name="Kynon J Benjamin" userId="S::owb0346@ads.northwestern.edu::4d8eca9d-d428-48b2-ac32-a21647b4cf50" providerId="AD" clId="Web-{00000000-0000-0000-0000-000000000000}" dt="2026-10-18T19:33:45.830" v="99" actId="1076"/>
          <ac:picMkLst>
            <pc:docMk/>
            <pc:sldMk cId="0" sldId="291"/>
            <ac:picMk id="5" creationId="{F7469158-F92C-9704-CBAF-54F9B5D6206F}"/>
          </ac:picMkLst>
        </pc:picChg>
      </pc:sldChg>
      <pc:sldChg chg="addSp delSp modSp mod modClrScheme chgLayout">
        <pc:chgData name="Kynon J Benjamin" userId="S::owb0346@ads.northwestern.edu::4d8eca9d-d428-48b2-ac32-a21647b4cf50" providerId="AD" clId="Web-{00000000-0000-0000-0000-000000000000}" dt="2026-10-18T19:46:12.954" v="204" actId="1076"/>
        <pc:sldMkLst>
          <pc:docMk/>
          <pc:sldMk cId="0" sldId="292"/>
        </pc:sldMkLst>
        <pc:spChg chg="add mod ord">
          <ac:chgData name="Kynon J Benjamin" userId="S::owb0346@ads.northwestern.edu::4d8eca9d-d428-48b2-ac32-a21647b4cf50" providerId="AD" clId="Web-{00000000-0000-0000-0000-000000000000}" dt="2026-10-18T19:46:07.766" v="202" actId="1076"/>
          <ac:spMkLst>
            <pc:docMk/>
            <pc:sldMk cId="0" sldId="292"/>
            <ac:spMk id="3" creationId="{59A952D0-2134-DD01-58C9-3994D8123902}"/>
          </ac:spMkLst>
        </pc:spChg>
        <pc:spChg chg="add del mod ord">
          <ac:chgData name="Kynon J Benjamin" userId="S::owb0346@ads.northwestern.edu::4d8eca9d-d428-48b2-ac32-a21647b4cf50" providerId="AD" clId="Web-{00000000-0000-0000-0000-000000000000}" dt="2026-10-18T19:45:41.391" v="193"/>
          <ac:spMkLst>
            <pc:docMk/>
            <pc:sldMk cId="0" sldId="292"/>
            <ac:spMk id="4" creationId="{9A731DD6-4325-00A4-A2F6-5DD8B19F75C4}"/>
          </ac:spMkLst>
        </pc:spChg>
        <pc:spChg chg="mod">
          <ac:chgData name="Kynon J Benjamin" userId="S::owb0346@ads.northwestern.edu::4d8eca9d-d428-48b2-ac32-a21647b4cf50" providerId="AD" clId="Web-{00000000-0000-0000-0000-000000000000}" dt="2026-10-18T19:46:12.938" v="203" actId="1076"/>
          <ac:spMkLst>
            <pc:docMk/>
            <pc:sldMk cId="0" sldId="292"/>
            <ac:spMk id="15" creationId="{7FE61B7E-9229-884F-8455-DA9DC4118B8F}"/>
          </ac:spMkLst>
        </pc:spChg>
        <pc:picChg chg="mod">
          <ac:chgData name="Kynon J Benjamin" userId="S::owb0346@ads.northwestern.edu::4d8eca9d-d428-48b2-ac32-a21647b4cf50" providerId="AD" clId="Web-{00000000-0000-0000-0000-000000000000}" dt="2026-10-18T19:46:12.954" v="204" actId="1076"/>
          <ac:picMkLst>
            <pc:docMk/>
            <pc:sldMk cId="0" sldId="292"/>
            <ac:picMk id="17" creationId="{4D63482B-D369-144A-BD43-9970C49EC568}"/>
          </ac:picMkLst>
        </pc:picChg>
      </pc:sldChg>
      <pc:sldChg chg="delSp modSp">
        <pc:chgData name="Kynon J Benjamin" userId="S::owb0346@ads.northwestern.edu::4d8eca9d-d428-48b2-ac32-a21647b4cf50" providerId="AD" clId="Web-{00000000-0000-0000-0000-000000000000}" dt="2026-10-18T19:21:12.253" v="4"/>
        <pc:sldMkLst>
          <pc:docMk/>
          <pc:sldMk cId="0" sldId="297"/>
        </pc:sldMkLst>
        <pc:spChg chg="del mod">
          <ac:chgData name="Kynon J Benjamin" userId="S::owb0346@ads.northwestern.edu::4d8eca9d-d428-48b2-ac32-a21647b4cf50" providerId="AD" clId="Web-{00000000-0000-0000-0000-000000000000}" dt="2026-10-18T19:21:12.253" v="4"/>
          <ac:spMkLst>
            <pc:docMk/>
            <pc:sldMk cId="0" sldId="297"/>
            <ac:spMk id="19" creationId="{00000000-0000-0000-0000-000000000000}"/>
          </ac:spMkLst>
        </pc:spChg>
      </pc:sldChg>
      <pc:sldChg chg="modSp">
        <pc:chgData name="Kynon J Benjamin" userId="S::owb0346@ads.northwestern.edu::4d8eca9d-d428-48b2-ac32-a21647b4cf50" providerId="AD" clId="Web-{00000000-0000-0000-0000-000000000000}" dt="2026-10-18T19:42:30.564" v="191" actId="14100"/>
        <pc:sldMkLst>
          <pc:docMk/>
          <pc:sldMk cId="0" sldId="298"/>
        </pc:sldMkLst>
        <pc:spChg chg="mod">
          <ac:chgData name="Kynon J Benjamin" userId="S::owb0346@ads.northwestern.edu::4d8eca9d-d428-48b2-ac32-a21647b4cf50" providerId="AD" clId="Web-{00000000-0000-0000-0000-000000000000}" dt="2026-10-18T19:42:30.564" v="191" actId="14100"/>
          <ac:spMkLst>
            <pc:docMk/>
            <pc:sldMk cId="0" sldId="298"/>
            <ac:spMk id="11" creationId="{8CE5193F-E041-D3AC-0826-50C5A855436D}"/>
          </ac:spMkLst>
        </pc:spChg>
        <pc:picChg chg="mod">
          <ac:chgData name="Kynon J Benjamin" userId="S::owb0346@ads.northwestern.edu::4d8eca9d-d428-48b2-ac32-a21647b4cf50" providerId="AD" clId="Web-{00000000-0000-0000-0000-000000000000}" dt="2026-10-18T19:42:20.907" v="188" actId="14100"/>
          <ac:picMkLst>
            <pc:docMk/>
            <pc:sldMk cId="0" sldId="298"/>
            <ac:picMk id="13" creationId="{242B9FD7-AAC9-A1A5-3DDC-A482E8118C3E}"/>
          </ac:picMkLst>
        </pc:picChg>
        <pc:picChg chg="mod">
          <ac:chgData name="Kynon J Benjamin" userId="S::owb0346@ads.northwestern.edu::4d8eca9d-d428-48b2-ac32-a21647b4cf50" providerId="AD" clId="Web-{00000000-0000-0000-0000-000000000000}" dt="2026-10-18T19:42:14.611" v="187" actId="14100"/>
          <ac:picMkLst>
            <pc:docMk/>
            <pc:sldMk cId="0" sldId="298"/>
            <ac:picMk id="1028" creationId="{1412D199-A493-2A50-8C19-0178F6F7148F}"/>
          </ac:picMkLst>
        </pc:picChg>
      </pc:sldChg>
      <pc:sldChg chg="addSp delSp modSp">
        <pc:chgData name="Kynon J Benjamin" userId="S::owb0346@ads.northwestern.edu::4d8eca9d-d428-48b2-ac32-a21647b4cf50" providerId="AD" clId="Web-{00000000-0000-0000-0000-000000000000}" dt="2026-10-18T19:41:57.329" v="185" actId="14100"/>
        <pc:sldMkLst>
          <pc:docMk/>
          <pc:sldMk cId="0" sldId="308"/>
        </pc:sldMkLst>
        <pc:spChg chg="mod">
          <ac:chgData name="Kynon J Benjamin" userId="S::owb0346@ads.northwestern.edu::4d8eca9d-d428-48b2-ac32-a21647b4cf50" providerId="AD" clId="Web-{00000000-0000-0000-0000-000000000000}" dt="2026-10-18T19:41:57.329" v="185" actId="14100"/>
          <ac:spMkLst>
            <pc:docMk/>
            <pc:sldMk cId="0" sldId="308"/>
            <ac:spMk id="2" creationId="{00000000-0000-0000-0000-000000000000}"/>
          </ac:spMkLst>
        </pc:spChg>
        <pc:spChg chg="mod">
          <ac:chgData name="Kynon J Benjamin" userId="S::owb0346@ads.northwestern.edu::4d8eca9d-d428-48b2-ac32-a21647b4cf50" providerId="AD" clId="Web-{00000000-0000-0000-0000-000000000000}" dt="2026-10-18T19:41:28.986" v="179" actId="1076"/>
          <ac:spMkLst>
            <pc:docMk/>
            <pc:sldMk cId="0" sldId="308"/>
            <ac:spMk id="129" creationId="{00000000-0000-0000-0000-000000000000}"/>
          </ac:spMkLst>
        </pc:spChg>
        <pc:spChg chg="mod">
          <ac:chgData name="Kynon J Benjamin" userId="S::owb0346@ads.northwestern.edu::4d8eca9d-d428-48b2-ac32-a21647b4cf50" providerId="AD" clId="Web-{00000000-0000-0000-0000-000000000000}" dt="2026-10-18T19:38:43.502" v="145" actId="1076"/>
          <ac:spMkLst>
            <pc:docMk/>
            <pc:sldMk cId="0" sldId="308"/>
            <ac:spMk id="131" creationId="{00000000-0000-0000-0000-000000000000}"/>
          </ac:spMkLst>
        </pc:spChg>
        <pc:spChg chg="mod topLvl">
          <ac:chgData name="Kynon J Benjamin" userId="S::owb0346@ads.northwestern.edu::4d8eca9d-d428-48b2-ac32-a21647b4cf50" providerId="AD" clId="Web-{00000000-0000-0000-0000-000000000000}" dt="2026-10-18T19:41:14.876" v="173" actId="1076"/>
          <ac:spMkLst>
            <pc:docMk/>
            <pc:sldMk cId="0" sldId="308"/>
            <ac:spMk id="132" creationId="{00000000-0000-0000-0000-000000000000}"/>
          </ac:spMkLst>
        </pc:spChg>
        <pc:grpChg chg="add del">
          <ac:chgData name="Kynon J Benjamin" userId="S::owb0346@ads.northwestern.edu::4d8eca9d-d428-48b2-ac32-a21647b4cf50" providerId="AD" clId="Web-{00000000-0000-0000-0000-000000000000}" dt="2026-10-18T19:41:12.001" v="172"/>
          <ac:grpSpMkLst>
            <pc:docMk/>
            <pc:sldMk cId="0" sldId="308"/>
            <ac:grpSpMk id="3" creationId="{92E10876-5529-DFDD-91DB-67966A4DDD2B}"/>
          </ac:grpSpMkLst>
        </pc:grpChg>
        <pc:grpChg chg="add mod">
          <ac:chgData name="Kynon J Benjamin" userId="S::owb0346@ads.northwestern.edu::4d8eca9d-d428-48b2-ac32-a21647b4cf50" providerId="AD" clId="Web-{00000000-0000-0000-0000-000000000000}" dt="2026-10-18T19:41:40.157" v="183" actId="1076"/>
          <ac:grpSpMkLst>
            <pc:docMk/>
            <pc:sldMk cId="0" sldId="308"/>
            <ac:grpSpMk id="4" creationId="{56A28F92-C6CF-A806-0D42-529160E74479}"/>
          </ac:grpSpMkLst>
        </pc:grpChg>
        <pc:picChg chg="mod topLvl">
          <ac:chgData name="Kynon J Benjamin" userId="S::owb0346@ads.northwestern.edu::4d8eca9d-d428-48b2-ac32-a21647b4cf50" providerId="AD" clId="Web-{00000000-0000-0000-0000-000000000000}" dt="2026-10-18T19:41:14.876" v="174" actId="1076"/>
          <ac:picMkLst>
            <pc:docMk/>
            <pc:sldMk cId="0" sldId="308"/>
            <ac:picMk id="130" creationId="{00000000-0000-0000-0000-000000000000}"/>
          </ac:picMkLst>
        </pc:picChg>
      </pc:sldChg>
      <pc:sldChg chg="modSp">
        <pc:chgData name="Kynon J Benjamin" userId="S::owb0346@ads.northwestern.edu::4d8eca9d-d428-48b2-ac32-a21647b4cf50" providerId="AD" clId="Web-{00000000-0000-0000-0000-000000000000}" dt="2026-10-18T19:37:16.798" v="115" actId="14100"/>
        <pc:sldMkLst>
          <pc:docMk/>
          <pc:sldMk cId="0" sldId="309"/>
        </pc:sldMkLst>
        <pc:spChg chg="mod">
          <ac:chgData name="Kynon J Benjamin" userId="S::owb0346@ads.northwestern.edu::4d8eca9d-d428-48b2-ac32-a21647b4cf50" providerId="AD" clId="Web-{00000000-0000-0000-0000-000000000000}" dt="2026-10-18T19:37:16.798" v="115" actId="14100"/>
          <ac:spMkLst>
            <pc:docMk/>
            <pc:sldMk cId="0" sldId="309"/>
            <ac:spMk id="13" creationId="{4886008D-3808-06F6-3C26-83B1148630D0}"/>
          </ac:spMkLst>
        </pc:spChg>
      </pc:sldChg>
      <pc:sldChg chg="modSp">
        <pc:chgData name="Kynon J Benjamin" userId="S::owb0346@ads.northwestern.edu::4d8eca9d-d428-48b2-ac32-a21647b4cf50" providerId="AD" clId="Web-{00000000-0000-0000-0000-000000000000}" dt="2026-10-18T19:36:54.236" v="113" actId="20577"/>
        <pc:sldMkLst>
          <pc:docMk/>
          <pc:sldMk cId="0" sldId="318"/>
        </pc:sldMkLst>
        <pc:spChg chg="mod">
          <ac:chgData name="Kynon J Benjamin" userId="S::owb0346@ads.northwestern.edu::4d8eca9d-d428-48b2-ac32-a21647b4cf50" providerId="AD" clId="Web-{00000000-0000-0000-0000-000000000000}" dt="2026-10-18T19:36:54.236" v="113" actId="20577"/>
          <ac:spMkLst>
            <pc:docMk/>
            <pc:sldMk cId="0" sldId="318"/>
            <ac:spMk id="2" creationId="{00000000-0000-0000-0000-000000000000}"/>
          </ac:spMkLst>
        </pc:spChg>
        <pc:spChg chg="mod">
          <ac:chgData name="Kynon J Benjamin" userId="S::owb0346@ads.northwestern.edu::4d8eca9d-d428-48b2-ac32-a21647b4cf50" providerId="AD" clId="Web-{00000000-0000-0000-0000-000000000000}" dt="2026-10-18T19:36:48.533" v="109" actId="1076"/>
          <ac:spMkLst>
            <pc:docMk/>
            <pc:sldMk cId="0" sldId="318"/>
            <ac:spMk id="4" creationId="{00000000-0000-0000-0000-000000000000}"/>
          </ac:spMkLst>
        </pc:spChg>
        <pc:spChg chg="mod">
          <ac:chgData name="Kynon J Benjamin" userId="S::owb0346@ads.northwestern.edu::4d8eca9d-d428-48b2-ac32-a21647b4cf50" providerId="AD" clId="Web-{00000000-0000-0000-0000-000000000000}" dt="2026-10-18T19:36:48.548" v="110" actId="1076"/>
          <ac:spMkLst>
            <pc:docMk/>
            <pc:sldMk cId="0" sldId="318"/>
            <ac:spMk id="5" creationId="{00000000-0000-0000-0000-000000000000}"/>
          </ac:spMkLst>
        </pc:spChg>
        <pc:spChg chg="mod">
          <ac:chgData name="Kynon J Benjamin" userId="S::owb0346@ads.northwestern.edu::4d8eca9d-d428-48b2-ac32-a21647b4cf50" providerId="AD" clId="Web-{00000000-0000-0000-0000-000000000000}" dt="2026-10-18T19:36:48.564" v="111" actId="1076"/>
          <ac:spMkLst>
            <pc:docMk/>
            <pc:sldMk cId="0" sldId="318"/>
            <ac:spMk id="6" creationId="{00000000-0000-0000-0000-000000000000}"/>
          </ac:spMkLst>
        </pc:spChg>
      </pc:sldChg>
      <pc:sldChg chg="delSp modSp add replId">
        <pc:chgData name="Kynon J Benjamin" userId="S::owb0346@ads.northwestern.edu::4d8eca9d-d428-48b2-ac32-a21647b4cf50" providerId="AD" clId="Web-{00000000-0000-0000-0000-000000000000}" dt="2026-10-18T19:32:27.642" v="94" actId="1076"/>
        <pc:sldMkLst>
          <pc:docMk/>
          <pc:sldMk cId="3554514285" sldId="319"/>
        </pc:sldMkLst>
        <pc:spChg chg="mod">
          <ac:chgData name="Kynon J Benjamin" userId="S::owb0346@ads.northwestern.edu::4d8eca9d-d428-48b2-ac32-a21647b4cf50" providerId="AD" clId="Web-{00000000-0000-0000-0000-000000000000}" dt="2026-10-18T19:31:33.767" v="90" actId="1076"/>
          <ac:spMkLst>
            <pc:docMk/>
            <pc:sldMk cId="3554514285" sldId="319"/>
            <ac:spMk id="3" creationId="{D0EE74F1-B5F1-51DE-1BE4-B33693884BF2}"/>
          </ac:spMkLst>
        </pc:spChg>
        <pc:grpChg chg="del">
          <ac:chgData name="Kynon J Benjamin" userId="S::owb0346@ads.northwestern.edu::4d8eca9d-d428-48b2-ac32-a21647b4cf50" providerId="AD" clId="Web-{00000000-0000-0000-0000-000000000000}" dt="2026-10-18T19:30:49.345" v="79"/>
          <ac:grpSpMkLst>
            <pc:docMk/>
            <pc:sldMk cId="3554514285" sldId="319"/>
            <ac:grpSpMk id="5" creationId="{9A422FFC-6DD7-5C6F-4923-1F04C45E95BC}"/>
          </ac:grpSpMkLst>
        </pc:grpChg>
        <pc:picChg chg="mod topLvl">
          <ac:chgData name="Kynon J Benjamin" userId="S::owb0346@ads.northwestern.edu::4d8eca9d-d428-48b2-ac32-a21647b4cf50" providerId="AD" clId="Web-{00000000-0000-0000-0000-000000000000}" dt="2026-10-18T19:32:27.642" v="94" actId="1076"/>
          <ac:picMkLst>
            <pc:docMk/>
            <pc:sldMk cId="3554514285" sldId="319"/>
            <ac:picMk id="4" creationId="{34ECCCAB-5AF3-7551-4ABE-A548648F4CA6}"/>
          </ac:picMkLst>
        </pc:picChg>
        <pc:picChg chg="del topLvl">
          <ac:chgData name="Kynon J Benjamin" userId="S::owb0346@ads.northwestern.edu::4d8eca9d-d428-48b2-ac32-a21647b4cf50" providerId="AD" clId="Web-{00000000-0000-0000-0000-000000000000}" dt="2026-10-18T19:30:53.658" v="80"/>
          <ac:picMkLst>
            <pc:docMk/>
            <pc:sldMk cId="3554514285" sldId="319"/>
            <ac:picMk id="7" creationId="{D975BECF-7C02-C223-964F-1EF2D6C60CC9}"/>
          </ac:picMkLst>
        </pc:picChg>
        <pc:picChg chg="mod topLvl">
          <ac:chgData name="Kynon J Benjamin" userId="S::owb0346@ads.northwestern.edu::4d8eca9d-d428-48b2-ac32-a21647b4cf50" providerId="AD" clId="Web-{00000000-0000-0000-0000-000000000000}" dt="2026-10-18T19:32:27.626" v="93" actId="1076"/>
          <ac:picMkLst>
            <pc:docMk/>
            <pc:sldMk cId="3554514285" sldId="319"/>
            <ac:picMk id="8" creationId="{FBBF4B9F-7B30-FDBD-3A3D-45D0463050C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392C88-9099-45BB-9323-C8E4707F3C06}" type="datetimeFigureOut">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550694-0CEB-45CC-B5A3-C6B20924A225}" type="slidenum">
              <a:t>‹#›</a:t>
            </a:fld>
            <a:endParaRPr lang="en-US"/>
          </a:p>
        </p:txBody>
      </p:sp>
    </p:spTree>
    <p:extLst>
      <p:ext uri="{BB962C8B-B14F-4D97-AF65-F5344CB8AC3E}">
        <p14:creationId xmlns:p14="http://schemas.microsoft.com/office/powerpoint/2010/main" val="4119315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poll options:</a:t>
            </a:r>
          </a:p>
          <a:p>
            <a:r>
              <a:t>A.  Pooled analysis only</a:t>
            </a:r>
          </a:p>
          <a:p>
            <a:r>
              <a:t>B.  Pooled plus subgroup checks</a:t>
            </a:r>
          </a:p>
          <a:p>
            <a:r>
              <a:t>C.  Ancestry-aware models by default</a:t>
            </a:r>
          </a:p>
          <a:p>
            <a:r>
              <a:t>D.  It varies by project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and live poll (15 min): Welcome participants and assess current analytic practices. The poll surface depends on the build — see below.</a:t>
            </a:r>
          </a:p>
          <a:p>
            <a:endParaRPr/>
          </a:p>
          <a:p>
            <a:r>
              <a:t>Framing and prediction practice (15 min): The organiser deck (genomics today, race vs ancestry, meta-analysis masking, local ancestry and Tractor, multi-ancestry PRS), then the "How the modules work" slide. The opening poll has no reveal, so this slide is where commit-then-reveal is practised.</a:t>
            </a:r>
          </a:p>
          <a:p>
            <a:endParaRPr/>
          </a:p>
          <a:p>
            <a:r>
              <a:t>Interactive exercises I (30 min): Scenarios 1–3: pooled/stratified, meta-analysis, and local ancestry (10 min each).</a:t>
            </a:r>
          </a:p>
          <a:p>
            <a:endParaRPr/>
          </a:p>
          <a:p>
            <a:r>
              <a:t>Interactive exercises II (30 min): Scenarios 4–6: complexity, regularization, and scalable inference (10 min each).</a:t>
            </a:r>
          </a:p>
          <a:p>
            <a:endParaRPr/>
          </a:p>
          <a:p>
            <a:r>
              <a:t>Synthesis (15 min): Compare recurring patterns and participant predictions.</a:t>
            </a:r>
          </a:p>
          <a:p>
            <a:endParaRPr/>
          </a:p>
          <a:p>
            <a:r>
              <a:t>Wrap-up and Q&amp;A (15 min): Build a take-home decision framework and answer questions.</a:t>
            </a:r>
          </a:p>
          <a:p>
            <a:endParaRPr/>
          </a:p>
          <a:p>
            <a:r>
              <a:t>6 modules at 10 minutes each, in the order they appear in the platform.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Commit: Answer the module's question before any chart or control is visible.</a:t>
            </a:r>
          </a:p>
          <a:p>
            <a:endParaRPr/>
          </a:p>
          <a:p>
            <a:r>
              <a:t>Room split: The facilitator projects how the room divided, then reveals the answer the precomputed numbers give.</a:t>
            </a:r>
          </a:p>
          <a:p>
            <a:endParaRPr/>
          </a:p>
          <a:p>
            <a:r>
              <a:t>Explore: The controls unlock. Move every one and watch the result change; the presets are the entry points.</a:t>
            </a:r>
          </a:p>
          <a:p>
            <a:endParaRPr/>
          </a:p>
          <a:p>
            <a:r>
              <a:t>Debrief: What would have to be true of a real cohort for one of the other answers to be right?</a:t>
            </a:r>
          </a:p>
          <a:p>
            <a:endParaRPr/>
          </a:p>
          <a:p>
            <a:r>
              <a:t>6 modules · 10 minutes each · the correct answer is computed from the module's own numbers, never typed 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switching models, predict whether a single pooled estimate will describe every ancestry group in the sample, or only the largest one.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pooled estimate is the most precise number on the screen and it is significant at every mix. As the European-ancestry share rises it moves onto the strong European effect, because a pooled regression is an information-weighted average and the European group carries most of the information. The African-ancestry estimate is 0.02 with an interval that includes zero at every mix, and nothing in the pooled output says so.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the ancestry-mix slider and watch the pooled estimate migrate toward whichever group dominates the sample. The stratified estimates do not move. The top of the slider is the GWAS catalog today (the 'Genomics today' slide): the pooled estimate equals the European effect and is highly significant, while the African-ancestry estimate has never been distinguishable from zero. Point out that the direction is the real LCT biology: rs4988235 is the European persistence allele, and persistence in African populations is carried by other variants that this SNP does not tag. If the room asks why this is not the PCSK9 example from the framing slides: a loss-of-function allele absent in European ancestry cannot be diluted by pooling, because the European sample carries no information about it. This module shows the more common and less visible case, where the pooled number is real, significant, and wrong for a third of the room.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pooled result can look efficient and decisive while describing only the dominant group. Applied to the underrepresented group, it overstates an effect that may barely exist there; this is the same number a pooled polygenic score is built from (module 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Does a significant meta-analysis mean the same biology is operating in every ancestry group?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fixed-effect summary stays narrow and significant at every level of heterogeneity because its weights never change: they are set by precision alone, so the two largest groups carry about three quarters of the weight and the East Asian group, where the effect is about 3 times larger, carries about a seventh. The random-effects model lets tau² re-balance the weights toward equality and its interval widens to say so. Only within-ancestry testing reports the East Asian effect itself.</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the synthesis select through its three settings before touching the slider: within-ancestry reports four estimates and four p-values; each meta-analysis reports one diamond, one p-value, and prints the weight each group carried on its row. Then set heterogeneity to 0: the two summaries coincide and I² is near zero. Move to 100. The fixed-effect weights do not move, the summary stays narrow and significant, and the rows show why: the East Asian group with the 3-fold effect carries about 15% of the weight. This is the meta-analysis half of the Sirugo quote on the framing slides (diverse populations 'only as part of large meta-analyses'), and it is also what Tractor-style local-ancestry analysis does after stratifying (module 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meta-analysis summary describes the groups that carry its weight. When the distinctive biology sits in a small group, the combined p-value can be impressive while saying nothing about that group; equity-aware synthesis reports the weights, the heterogeneity, and the within-ancestry estimates, not only the strongest combined p-value.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Does modelling local ancestry at this locus buy power, cost power, or neither?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opposing effects the standard scan reports nothing at this locus: the pooled estimate averages the two directions to near zero. Adding local ancestry as a covariate does not rescue it, because the problem is effect modification rather than confounding. Only the interaction model, which fits one slope per background and combines them, separates the backgrounds. Set both effects the same and the verdict reverses: the plain scan wins even though the allele frequency differs (0.11 vs 0.34), because local ancestry has nothing to add and the interaction model pays for its extra parameters in degrees of freedom.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Collect the prediction before anyone touches a control, then project the room's split. The middle option is the intuitive one and it is wrong: local ancestry as a covariate does almost nothing here, because the backgrounds disagree rather than confound. The interaction model is the Tractor idea from the framing slides: stratify the genotype by local ancestry, estimate one effect per background, then combine, which is module 1's stratified analysis and module 2's meta-analysis done at a single locus. Then send them to the presets. 'Same effect, different frequency' is the one that surprises people who have just learned to reach for the interaction model: the frequencies differ three-fold, the effects agree, and the plain scan wins. Say the take-home out loud: local ancestry improves power only when the effect differs between populations; when it is similar, global ancestry is better even with different allele frequencies; there is no one right way. Watch the 'best here' line on the detection panel change hands as they move the sliders. Module 4 is the cost side of this trade-off at small sample sizes.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Local-ancestry modelling is stratify-then-combine (Tractor), the same choice as modules 1 and 2 made at one locus. It buys power only when the effect genuinely differs between ancestry backgrounds; when the effect is similar, global ancestry adjustment is the better analysis even if the allele frequency is not. There is no one right way, and a null from the wrong model is not the same as no biology.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AA population, ancestry analysis reveals significant admixture, as seen in the principal component analysis plot. This plot includes 1000 genome ancestral populations (CEU - European, YRI - African, CHB - East Asian) and NIGMS AA populations. It highlights the mixed ancestry of AA individuals, positioned along the axis between the CEU and YRI groups. </a:t>
            </a:r>
          </a:p>
          <a:p>
            <a:r>
              <a:t>The black dots show two individuals with the similar global ancestry. The local ancestry of these two individuals (inferred via RFMix v1.5.4) at each chromosome is also shown. While these individuals have similar global ancestry, their local ancestry differs markedly at specific locations and showing mosaic pattern of 2 different ancestries in a genomic region. This difference in local ancestry adds an additional variable in genetic association analysis. So, looking at these plots we can see that local ancestry can be used as an additional predictor in gene expression prediction model, specifically designed for admixed populations like African American population.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effect is the same on every ancestry background. Does modelling local ancestry help, hurt, or neither?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model estimates the same effect; only the uncertainty differs, and it differs by what each added term explains. Global PCs and the local-ancestry covariate are within a hair of each other, because the allele frequencies barely differ by background, so local ancestry explains about 0.5% of the genotype variance: nothing to correct, almost nothing to pay. The interaction model fits one slope per background and tests them jointly on three degrees of freedom, so it first detects the locus near n=900 where the single-slope models cross near n=450. The covariate switches show the other two cases: three clinical covariates take the global-PC p-value from 0.031 to 0.016 at n=500, because they explain a fifth of LDL variance; sixty technical indicators move it to 0.041, and at n=250 from 0.131 to 0.187, because they explain almost nothing and cost sixty terms.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from module 3: the same three models and the same admixed composition, but a locus where the backgrounds agree and the allele frequencies are similar (APOE rs7412: 0.11 / 0.08 / 0.06). Park the slider at 500: global PCs and the covariate model are significant with near-identical intervals, the interaction model is not, and every point estimate is the same. That is the module in one screen. The near-identical first two arms are deliberate and worth saying: a local-ancestry covariate is cheap and, here, useless; the interaction model is neither. Then the two switches: clinical covariates make every model more significant (they explain LDL), sixty technical indicators make every model less significant, most at n=250. Slide to 1,200 and all three models agree, which is why the same choice is free in a biobank and decisive in a small study. Then put the two modules together: there is no one right way, and the answer depends on whether the effect differs between backgrounds and on what each covariate actually explains, which you cannot know before you look.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term earns its place by what it explains. Clinical covariates explain the outcome and buy power; technical indicators explain little and cost k/n; local ancestry explains genotype variance, which is a cost unless the backgrounds differ; and an interaction model pays in degrees of freedom. Local ancestry can fail, not because the model is wrong but because complexity was added that the locus did not need, and every one of these prices falls hardest where the sample is smallest, which is exactly the admixed and underrepresented cohorts the method was built for. Module 3 shows when the extra parameters pay for themselves; this module shows what they cost when they do not.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polygenic score trained on the pooled multi-ancestry cohort reports the higher global R². An ancestry-aware score is better calibrated in the smallest group. Which one is worse?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pooled-cohort PRS is trained on everyone at once, so its weights converge to the largest group's. The ancestry-aware PRS estimates each ancestry group's weights from that group's data and pays for the extra parameters in global R². What it buys is calibration: in the smallest group it is far better calibrated than the pooled score at the same shrinkage. Raise the shrinkage and the pooled score's calibration collapses first, while the ancestry-aware score still holds when the pooled one has shrunk to nothing.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African-ancestry exception on the multi-ancestry PRS slide. Read the two panels against each other at the starting shrinkage: the ancestry-aware PRS looks slightly worse on global R² and is markedly better for the smallest group. Then push the shrinkage to the maximum: the pooled score's weights go to zero while the ancestry-aware score is still predicting (switch the score select to see each one's weight path; the ancestry-aware path is drawn for the Admixed American ancestry group). A score chosen on the headline metric alone is the one that fails the smallest group first. The weight blocks are a three-block stand-in for a genome-wide weight vector, not named loci; say so if asked.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multi-ancestry polygenic score result from the framing slides: the score trained on the pooled cohort wins on the headline metric for most groups and fails the group that made up a few percent of the training data. A single accuracy metric rewards fitting the largest group while under-serving smaller or heterogeneous ones, and it is built from pooled effect estimates like module 1's.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Phenotype dependent: when phenotype occurs in larger frequency in one population PRS generally performs better when informed by ancestry specific GWAS, when phenotype occurs more equally among populations then multiethnic may perform better due to power gains of larger sample size, multiethnic can get rid of ancestry specific variants that could be causal – improvement in multi vs pop specific</a:t>
            </a:r>
          </a:p>
          <a:p>
            <a:endParaRPr/>
          </a:p>
          <a:p>
            <a:r>
              <a:t>Hispanics, while admixed generally have a large percentage of their ancestry coming from European ancestry (Avg in US: 65%) which may explain high accuracy with multiethnic model</a:t>
            </a:r>
          </a:p>
          <a:p>
            <a:endParaRPr/>
          </a:p>
          <a:p>
            <a:r>
              <a:t>Prior studies have shown overlap for various traits and diseases at the variant level and genome level for East asians and europeans; Also this study combined South Asians and East Asians which can lead to inaccurate results when taken together – South Asians have much higher rate of CHD than EUR or East Asians</a:t>
            </a:r>
          </a:p>
          <a:p>
            <a:endParaRPr/>
          </a:p>
          <a:p>
            <a:r>
              <a:t>LD blocks are smaller in Africans – may need more genetic variants to capture same level of variation as other populations </a:t>
            </a:r>
          </a:p>
          <a:p>
            <a:endParaRPr/>
          </a:p>
          <a:p>
            <a:r>
              <a:t>Figure legend, cannot see legend – talk abt legend (grey is multi ancestry)</a:t>
            </a:r>
          </a:p>
          <a:p>
            <a:endParaRPr/>
          </a:p>
          <a:p>
            <a:endParaRPr/>
          </a:p>
          <a:p>
            <a:r>
              <a:t>We calculated OR per 1-SD increase in PRS using multivariable logistic regression across all validation cohorts.</a:t>
            </a:r>
          </a:p>
          <a:p>
            <a:endParaRPr/>
          </a:p>
          <a:p>
            <a:r>
              <a:t>PRS with the highest observed odds ratio (OR) for CHD per 1 standard deviation (SD) increase were deemed to have the optimal training parameter values across ancestry populations and subsequently advanced for validation.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 local ancestry-aware genome-wide scan takes four times the compute of a standard GWAS, who decides whether it gets run?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Switching platforms does not change any scientific conclusion. It changes which analyses are practical at all, and the ones it gates are precisely the ancestry-aware models from the earlier modules.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this back to module 3: the local ancestry interaction model that detected the MTHFR locus — the Tractor-style scan from the framing slides — is the one sitting in the infeasible column on a Bridges-2 node. Switch the platform to the laptop, which is what most of the room has, and slide the variant count up: the local ancestry-aware scan drops out of the week too. Then switch to the GPU node and read the allocation panel: it is faster *and* cheaper in service units, because a GPU-hour is 2 SU and a node-hour of 128 cores is 128. Bridges-2 is free to US researchers with an ACCESS allocation; the cloud panel is what the same run costs on a credit card. 'Who can afford it' is therefore mostly 'who has an allocation and the expertise to use it', which is the argument for accelerated frameworks and for training, made concrete.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the equity-improving analysis is also the expensive one, compute access silently determines whose biology gets discovered.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for module 6: the permutation scan is infeasible on one node because of hardware, not because the method is exotic. A genome-wide scan repeats the same regression at millions of variants, which is exactly the work these libraries spread across cores and GPUs without changing the statistics.</a:t>
            </a:r>
          </a:p>
          <a:p>
            <a:endParaRPr/>
          </a:p>
          <a:p>
            <a:r>
              <a:t>PyTorch: tensors and models move between CPU and GPU with .to(device); multi-threaded on CPU. JAX: NumPy-style code compiled through XLA; vmap turns a one-variant test into an all-variants test. CuPy is a NumPy-compatible GPU array library; RAPIDS cuDF is the pandas equivalent, and cudf.pandas runs existing pandas code on the GPU. Numba: @njit(parallel=True) across CPU threads, @cuda.jit for NVIDIA GPUs. Dask: the same array and dataframe code from one machine to a cluster, including SLURM through dask-jobqueue.</a:t>
            </a:r>
          </a:p>
          <a:p>
            <a:endParaRPr/>
          </a:p>
          <a:p>
            <a:r>
              <a:t>https://pytorch.org · https://docs.jax.dev · https://cupy.dev · https://rapids.ai · https://numba.pydata.org · https://www.dask.org · https://jobqueue.dask.org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PLINK 2: association testing, QC and scoring on biobank-scale genotypes; multi-threaded (Chang et al., GigaScience 2015). REGENIE: whole-genome regression for quantitative and binary traits; --threads defaults to all cores but one (Mbatchou et al., Nature Genetics 53:1097-1103, 2021). Hail: genomic dataframes on Apache Spark, from a laptop to a cluster; its README names it the analysis engine for gnomAD, and the All of Us Researcher Workbench documents Hail on Dataproc clusters. tensorQTL: cis- and trans-QTL mapping built on PyTorch; the README reports ~200-300x faster than CPU-based implementations, and it also runs on CPU (Taylor-Weiner, Aguet et al., Genome Biology 2019). NVIDIA Parabricks: GPU versions of BWA-MEM alignment, DeepVariant and other callers; free public container, paid enterprise support optional. NSF ACCESS: allocations for research and education, including Bridges-2 at PSC, the platform module 6 prices; cloud providers also run research credit programs.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 Raise the European-ancestry share of the pooled sample from 35% to 95%. What happens to the pooled effect estimate?</a:t>
            </a:r>
          </a:p>
          <a:p>
            <a:endParaRPr/>
          </a:p>
          <a:p>
            <a:r>
              <a:t>Module 2: Four ancestry groups are meta-analysed. Push heterogeneity to 100%, where the East Asian effect is about 3 times the others'. What happens to the fixed-effect summary?</a:t>
            </a:r>
          </a:p>
          <a:p>
            <a:endParaRPr/>
          </a:p>
          <a:p>
            <a:r>
              <a:t>Module 3: The tag SNP has opposite effects on African- and European-ancestry haplotypes (+0.12 and -0.08) in a 15,000-person admixed study. Which is the simplest analysis that detects it at p &lt; 0.05?</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4: At this locus the effect is the same on every ancestry background and the allele frequencies are similar. In an admixed study of 500 people adjusted for age, sex and ten global PCs, which of global ancestry PCs alone, adding a local-ancestry covariate, and the local-ancestry interaction model detect it at p &lt; 0.05?</a:t>
            </a:r>
          </a:p>
          <a:p>
            <a:endParaRPr/>
          </a:p>
          <a:p>
            <a:r>
              <a:t>Module 5: Three polygenic scores are trained on a cohort that is 59% European, 23% African and 18% Admixed American ancestry. At the starting shrinkage, which score is best calibrated in the smallest ancestry group?</a:t>
            </a:r>
          </a:p>
          <a:p>
            <a:endParaRPr/>
          </a:p>
          <a:p>
            <a:r>
              <a:t>Module 6: Three genome-wide scans are queued on a Bridges-2 RM node (128 cores) for 8 million variants in 250,000 people: a standard GWAS scan, a local ancestry-aware scan (4x the work), and a permutation scan (ancestry interaction with 1,000 permutations, 4,000x). Which finish within one week?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0CF6EB-C03D-05F2-D1FD-5201E1F8DBB4}"/>
              </a:ext>
            </a:extLst>
          </p:cNvPr>
          <p:cNvSpPr/>
          <p:nvPr userDrawn="1"/>
        </p:nvSpPr>
        <p:spPr>
          <a:xfrm>
            <a:off x="-12192" y="0"/>
            <a:ext cx="12204192" cy="6858000"/>
          </a:xfrm>
          <a:prstGeom prst="rect">
            <a:avLst/>
          </a:prstGeom>
          <a:gradFill>
            <a:gsLst>
              <a:gs pos="67000">
                <a:schemeClr val="accent1">
                  <a:alpha val="82042"/>
                </a:schemeClr>
              </a:gs>
              <a:gs pos="100000">
                <a:schemeClr val="accent4">
                  <a:alpha val="64000"/>
                  <a:lumMod val="97558"/>
                  <a:lumOff val="2442"/>
                </a:schemeClr>
              </a:gs>
              <a:gs pos="35000">
                <a:schemeClr val="tx2">
                  <a:lumMod val="74523"/>
                  <a:alpha val="90804"/>
                </a:schemeClr>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30DD59-58AA-2A37-91A1-D24645A72AEE}"/>
              </a:ext>
            </a:extLst>
          </p:cNvPr>
          <p:cNvSpPr>
            <a:spLocks noGrp="1"/>
          </p:cNvSpPr>
          <p:nvPr>
            <p:ph type="ctrTitle"/>
          </p:nvPr>
        </p:nvSpPr>
        <p:spPr>
          <a:xfrm>
            <a:off x="572529" y="2655330"/>
            <a:ext cx="6730314" cy="2387600"/>
          </a:xfrm>
        </p:spPr>
        <p:txBody>
          <a:bodyPr anchor="b"/>
          <a:lstStyle>
            <a:lvl1pPr algn="l">
              <a:defRPr sz="6000">
                <a:solidFill>
                  <a:schemeClr val="bg1"/>
                </a:solidFill>
                <a:latin typeface="Poppins" pitchFamily="2" charset="77"/>
                <a:cs typeface="Poppins" pitchFamily="2" charset="77"/>
              </a:defRPr>
            </a:lvl1pPr>
          </a:lstStyle>
          <a:p>
            <a:r>
              <a:rPr lang="en-US"/>
              <a:t>Click to edit Master title style</a:t>
            </a:r>
          </a:p>
        </p:txBody>
      </p:sp>
      <p:sp>
        <p:nvSpPr>
          <p:cNvPr id="3" name="Subtitle 2">
            <a:extLst>
              <a:ext uri="{FF2B5EF4-FFF2-40B4-BE49-F238E27FC236}">
                <a16:creationId xmlns:a16="http://schemas.microsoft.com/office/drawing/2014/main" id="{2E5783F2-0A2B-2B77-7E68-6442073E1952}"/>
              </a:ext>
            </a:extLst>
          </p:cNvPr>
          <p:cNvSpPr>
            <a:spLocks noGrp="1"/>
          </p:cNvSpPr>
          <p:nvPr>
            <p:ph type="subTitle" idx="1"/>
          </p:nvPr>
        </p:nvSpPr>
        <p:spPr>
          <a:xfrm>
            <a:off x="572529" y="5135005"/>
            <a:ext cx="6730314" cy="1031017"/>
          </a:xfrm>
        </p:spPr>
        <p:txBody>
          <a:bodyPr/>
          <a:lstStyle>
            <a:lvl1pPr marL="0" indent="0" algn="l">
              <a:buNone/>
              <a:defRPr sz="240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Picture 8">
            <a:extLst>
              <a:ext uri="{FF2B5EF4-FFF2-40B4-BE49-F238E27FC236}">
                <a16:creationId xmlns:a16="http://schemas.microsoft.com/office/drawing/2014/main" id="{C045825D-4319-93AE-5CDA-1E0F71E1B84D}"/>
              </a:ext>
            </a:extLst>
          </p:cNvPr>
          <p:cNvPicPr>
            <a:picLocks noChangeAspect="1"/>
          </p:cNvPicPr>
          <p:nvPr userDrawn="1"/>
        </p:nvPicPr>
        <p:blipFill>
          <a:blip r:embed="rId3"/>
          <a:stretch>
            <a:fillRect/>
          </a:stretch>
        </p:blipFill>
        <p:spPr>
          <a:xfrm>
            <a:off x="7676669" y="560731"/>
            <a:ext cx="3939026" cy="1441107"/>
          </a:xfrm>
          <a:prstGeom prst="rect">
            <a:avLst/>
          </a:prstGeom>
        </p:spPr>
      </p:pic>
    </p:spTree>
    <p:extLst>
      <p:ext uri="{BB962C8B-B14F-4D97-AF65-F5344CB8AC3E}">
        <p14:creationId xmlns:p14="http://schemas.microsoft.com/office/powerpoint/2010/main" val="337940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Event Promo Slide Al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18CDEF3-FD16-AE63-21B6-D106ADCCF3B8}"/>
              </a:ext>
            </a:extLst>
          </p:cNvPr>
          <p:cNvSpPr/>
          <p:nvPr userDrawn="1"/>
        </p:nvSpPr>
        <p:spPr>
          <a:xfrm>
            <a:off x="-12192" y="0"/>
            <a:ext cx="12204192" cy="6858000"/>
          </a:xfrm>
          <a:prstGeom prst="rect">
            <a:avLst/>
          </a:prstGeom>
          <a:gradFill>
            <a:gsLst>
              <a:gs pos="67000">
                <a:schemeClr val="accent1">
                  <a:alpha val="88146"/>
                </a:schemeClr>
              </a:gs>
              <a:gs pos="100000">
                <a:schemeClr val="accent4">
                  <a:alpha val="62011"/>
                </a:schemeClr>
              </a:gs>
              <a:gs pos="36000">
                <a:schemeClr val="tx2">
                  <a:lumMod val="100000"/>
                  <a:alpha val="97902"/>
                </a:schemeClr>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045825D-4319-93AE-5CDA-1E0F71E1B84D}"/>
              </a:ext>
            </a:extLst>
          </p:cNvPr>
          <p:cNvPicPr>
            <a:picLocks noChangeAspect="1"/>
          </p:cNvPicPr>
          <p:nvPr userDrawn="1"/>
        </p:nvPicPr>
        <p:blipFill>
          <a:blip r:embed="rId3"/>
          <a:stretch>
            <a:fillRect/>
          </a:stretch>
        </p:blipFill>
        <p:spPr>
          <a:xfrm>
            <a:off x="3395614" y="782552"/>
            <a:ext cx="5400773" cy="1975893"/>
          </a:xfrm>
          <a:prstGeom prst="rect">
            <a:avLst/>
          </a:prstGeom>
        </p:spPr>
      </p:pic>
      <p:sp>
        <p:nvSpPr>
          <p:cNvPr id="28" name="Text Placeholder 27">
            <a:extLst>
              <a:ext uri="{FF2B5EF4-FFF2-40B4-BE49-F238E27FC236}">
                <a16:creationId xmlns:a16="http://schemas.microsoft.com/office/drawing/2014/main" id="{894DF7D2-6A38-E028-33A6-93E17CDA29A6}"/>
              </a:ext>
            </a:extLst>
          </p:cNvPr>
          <p:cNvSpPr>
            <a:spLocks noGrp="1"/>
          </p:cNvSpPr>
          <p:nvPr>
            <p:ph type="body" sz="quarter" idx="11" hasCustomPrompt="1"/>
          </p:nvPr>
        </p:nvSpPr>
        <p:spPr>
          <a:xfrm>
            <a:off x="1524000" y="5653173"/>
            <a:ext cx="9144000" cy="422275"/>
          </a:xfrm>
        </p:spPr>
        <p:txBody>
          <a:bodyPr/>
          <a:lstStyle>
            <a:lvl1pPr algn="ctr">
              <a:buFontTx/>
              <a:buNone/>
              <a:defRPr>
                <a:solidFill>
                  <a:schemeClr val="bg1"/>
                </a:solidFill>
              </a:defRPr>
            </a:lvl1pPr>
            <a:lvl2pPr algn="ctr">
              <a:buFontTx/>
              <a:buNone/>
              <a:defRPr/>
            </a:lvl2pPr>
            <a:lvl3pPr algn="ctr">
              <a:buFontTx/>
              <a:buNone/>
              <a:defRPr/>
            </a:lvl3pPr>
            <a:lvl4pPr algn="ctr">
              <a:buFontTx/>
              <a:buNone/>
              <a:defRPr/>
            </a:lvl4pPr>
            <a:lvl5pPr algn="ctr">
              <a:buFontTx/>
              <a:buNone/>
              <a:defRPr/>
            </a:lvl5pPr>
          </a:lstStyle>
          <a:p>
            <a:r>
              <a:rPr lang="en-US" sz="2000" b="0" i="0" spc="0">
                <a:solidFill>
                  <a:schemeClr val="bg1"/>
                </a:solidFill>
                <a:latin typeface="Poppins" pitchFamily="2" charset="77"/>
                <a:cs typeface="Poppins" pitchFamily="2" charset="77"/>
              </a:rPr>
              <a:t>Accepted August 10 - 26</a:t>
            </a:r>
          </a:p>
        </p:txBody>
      </p:sp>
      <p:pic>
        <p:nvPicPr>
          <p:cNvPr id="10" name="Picture 9">
            <a:extLst>
              <a:ext uri="{FF2B5EF4-FFF2-40B4-BE49-F238E27FC236}">
                <a16:creationId xmlns:a16="http://schemas.microsoft.com/office/drawing/2014/main" id="{B24C423E-486B-91D1-A815-DD3043D04F09}"/>
              </a:ext>
            </a:extLst>
          </p:cNvPr>
          <p:cNvPicPr>
            <a:picLocks noChangeAspect="1"/>
          </p:cNvPicPr>
          <p:nvPr userDrawn="1"/>
        </p:nvPicPr>
        <p:blipFill>
          <a:blip r:embed="rId4"/>
          <a:stretch>
            <a:fillRect/>
          </a:stretch>
        </p:blipFill>
        <p:spPr>
          <a:xfrm>
            <a:off x="3717872" y="3302392"/>
            <a:ext cx="4744064" cy="960013"/>
          </a:xfrm>
          <a:prstGeom prst="rect">
            <a:avLst/>
          </a:prstGeom>
        </p:spPr>
      </p:pic>
      <p:sp>
        <p:nvSpPr>
          <p:cNvPr id="26" name="Text Placeholder 25">
            <a:extLst>
              <a:ext uri="{FF2B5EF4-FFF2-40B4-BE49-F238E27FC236}">
                <a16:creationId xmlns:a16="http://schemas.microsoft.com/office/drawing/2014/main" id="{FE445682-B13B-492B-4CC5-E4BA9DCCA47F}"/>
              </a:ext>
            </a:extLst>
          </p:cNvPr>
          <p:cNvSpPr>
            <a:spLocks noGrp="1"/>
          </p:cNvSpPr>
          <p:nvPr>
            <p:ph type="body" sz="quarter" idx="10" hasCustomPrompt="1"/>
          </p:nvPr>
        </p:nvSpPr>
        <p:spPr>
          <a:xfrm>
            <a:off x="3931920" y="3604269"/>
            <a:ext cx="4328160" cy="442913"/>
          </a:xfrm>
        </p:spPr>
        <p:txBody>
          <a:bodyPr anchor="ctr"/>
          <a:lstStyle>
            <a:lvl1pPr algn="ctr">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en-US"/>
              <a:t>Registration Now Open</a:t>
            </a:r>
          </a:p>
        </p:txBody>
      </p:sp>
      <p:sp>
        <p:nvSpPr>
          <p:cNvPr id="31" name="Text Placeholder 30">
            <a:extLst>
              <a:ext uri="{FF2B5EF4-FFF2-40B4-BE49-F238E27FC236}">
                <a16:creationId xmlns:a16="http://schemas.microsoft.com/office/drawing/2014/main" id="{1F131945-2E35-39BF-3B5E-8725DDBFFD7D}"/>
              </a:ext>
            </a:extLst>
          </p:cNvPr>
          <p:cNvSpPr>
            <a:spLocks noGrp="1"/>
          </p:cNvSpPr>
          <p:nvPr>
            <p:ph type="body" sz="quarter" idx="12" hasCustomPrompt="1"/>
          </p:nvPr>
        </p:nvSpPr>
        <p:spPr>
          <a:xfrm>
            <a:off x="1524000" y="5111750"/>
            <a:ext cx="9144000" cy="541338"/>
          </a:xfrm>
        </p:spPr>
        <p:txBody>
          <a:bodyPr/>
          <a:lstStyle>
            <a:lvl1pPr algn="ctr">
              <a:buFontTx/>
              <a:buNone/>
              <a:defRPr sz="2800" b="1" i="0" spc="300">
                <a:solidFill>
                  <a:schemeClr val="accent3"/>
                </a:solidFill>
                <a:latin typeface="Poppins SemiBold" pitchFamily="2" charset="77"/>
                <a:cs typeface="Poppins SemiBold" pitchFamily="2" charset="77"/>
              </a:defRPr>
            </a:lvl1pPr>
            <a:lvl2pPr algn="ctr">
              <a:buFontTx/>
              <a:buNone/>
              <a:defRPr sz="2800" b="1" i="0" spc="300">
                <a:solidFill>
                  <a:schemeClr val="accent3"/>
                </a:solidFill>
                <a:latin typeface="Poppins SemiBold" pitchFamily="2" charset="77"/>
                <a:cs typeface="Poppins SemiBold" pitchFamily="2" charset="77"/>
              </a:defRPr>
            </a:lvl2pPr>
            <a:lvl3pPr algn="ctr">
              <a:buFontTx/>
              <a:buNone/>
              <a:defRPr sz="2800" b="1" i="0" spc="300">
                <a:solidFill>
                  <a:schemeClr val="accent3"/>
                </a:solidFill>
                <a:latin typeface="Poppins SemiBold" pitchFamily="2" charset="77"/>
                <a:cs typeface="Poppins SemiBold" pitchFamily="2" charset="77"/>
              </a:defRPr>
            </a:lvl3pPr>
            <a:lvl4pPr algn="ctr">
              <a:buFontTx/>
              <a:buNone/>
              <a:defRPr sz="2800" b="1" i="0" spc="300">
                <a:solidFill>
                  <a:schemeClr val="accent3"/>
                </a:solidFill>
                <a:latin typeface="Poppins SemiBold" pitchFamily="2" charset="77"/>
                <a:cs typeface="Poppins SemiBold" pitchFamily="2" charset="77"/>
              </a:defRPr>
            </a:lvl4pPr>
            <a:lvl5pPr algn="ctr">
              <a:buFontTx/>
              <a:buNone/>
              <a:defRPr sz="2800" b="1" i="0" spc="300">
                <a:solidFill>
                  <a:schemeClr val="accent3"/>
                </a:solidFill>
                <a:latin typeface="Poppins SemiBold" pitchFamily="2" charset="77"/>
                <a:cs typeface="Poppins SemiBold" pitchFamily="2" charset="77"/>
              </a:defRPr>
            </a:lvl5pPr>
          </a:lstStyle>
          <a:p>
            <a:pPr lvl="0"/>
            <a:r>
              <a:rPr lang="en-US"/>
              <a:t>LATE-BREAKING ABSTRACTS</a:t>
            </a:r>
          </a:p>
        </p:txBody>
      </p:sp>
      <p:pic>
        <p:nvPicPr>
          <p:cNvPr id="3" name="Picture 2">
            <a:extLst>
              <a:ext uri="{FF2B5EF4-FFF2-40B4-BE49-F238E27FC236}">
                <a16:creationId xmlns:a16="http://schemas.microsoft.com/office/drawing/2014/main" id="{FDAC9636-675B-A9A4-DE7C-7C12DE2C025F}"/>
              </a:ext>
            </a:extLst>
          </p:cNvPr>
          <p:cNvPicPr>
            <a:picLocks noChangeAspect="1"/>
          </p:cNvPicPr>
          <p:nvPr userDrawn="1"/>
        </p:nvPicPr>
        <p:blipFill>
          <a:blip r:embed="rId5"/>
          <a:stretch>
            <a:fillRect/>
          </a:stretch>
        </p:blipFill>
        <p:spPr>
          <a:xfrm>
            <a:off x="5117486" y="4710441"/>
            <a:ext cx="1957028" cy="68219"/>
          </a:xfrm>
          <a:prstGeom prst="rect">
            <a:avLst/>
          </a:prstGeom>
        </p:spPr>
      </p:pic>
    </p:spTree>
    <p:extLst>
      <p:ext uri="{BB962C8B-B14F-4D97-AF65-F5344CB8AC3E}">
        <p14:creationId xmlns:p14="http://schemas.microsoft.com/office/powerpoint/2010/main" val="3152031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ward Winner Slide Templ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EDC8B-84D4-7D9A-A91E-6AE0CAC22080}"/>
              </a:ext>
            </a:extLst>
          </p:cNvPr>
          <p:cNvSpPr>
            <a:spLocks noGrp="1"/>
          </p:cNvSpPr>
          <p:nvPr>
            <p:ph type="title" hasCustomPrompt="1"/>
          </p:nvPr>
        </p:nvSpPr>
        <p:spPr>
          <a:xfrm>
            <a:off x="5504022" y="1215342"/>
            <a:ext cx="5851366" cy="2483772"/>
          </a:xfrm>
        </p:spPr>
        <p:txBody>
          <a:bodyPr anchor="b"/>
          <a:lstStyle>
            <a:lvl1pPr>
              <a:defRPr sz="4000" b="0" i="0">
                <a:solidFill>
                  <a:schemeClr val="tx1"/>
                </a:solidFill>
                <a:latin typeface="Poppins" pitchFamily="2" charset="77"/>
                <a:cs typeface="Poppins" pitchFamily="2" charset="77"/>
              </a:defRPr>
            </a:lvl1pPr>
          </a:lstStyle>
          <a:p>
            <a:r>
              <a:rPr lang="en-US"/>
              <a:t>Award Title</a:t>
            </a:r>
          </a:p>
        </p:txBody>
      </p:sp>
      <p:sp>
        <p:nvSpPr>
          <p:cNvPr id="4" name="Text Placeholder 3">
            <a:extLst>
              <a:ext uri="{FF2B5EF4-FFF2-40B4-BE49-F238E27FC236}">
                <a16:creationId xmlns:a16="http://schemas.microsoft.com/office/drawing/2014/main" id="{7BB00D94-1C7C-F2E5-89B7-23D7DC5951E4}"/>
              </a:ext>
            </a:extLst>
          </p:cNvPr>
          <p:cNvSpPr>
            <a:spLocks noGrp="1"/>
          </p:cNvSpPr>
          <p:nvPr>
            <p:ph type="body" sz="half" idx="2" hasCustomPrompt="1"/>
          </p:nvPr>
        </p:nvSpPr>
        <p:spPr>
          <a:xfrm>
            <a:off x="5504022" y="4809695"/>
            <a:ext cx="5493162" cy="112218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Credentials</a:t>
            </a:r>
          </a:p>
        </p:txBody>
      </p:sp>
      <p:sp>
        <p:nvSpPr>
          <p:cNvPr id="11" name="Text Placeholder 10">
            <a:extLst>
              <a:ext uri="{FF2B5EF4-FFF2-40B4-BE49-F238E27FC236}">
                <a16:creationId xmlns:a16="http://schemas.microsoft.com/office/drawing/2014/main" id="{EA9A3337-7041-DEF3-8E69-24C196F189AE}"/>
              </a:ext>
            </a:extLst>
          </p:cNvPr>
          <p:cNvSpPr>
            <a:spLocks noGrp="1"/>
          </p:cNvSpPr>
          <p:nvPr>
            <p:ph type="body" sz="quarter" idx="10" hasCustomPrompt="1"/>
          </p:nvPr>
        </p:nvSpPr>
        <p:spPr>
          <a:xfrm>
            <a:off x="5504022" y="3855038"/>
            <a:ext cx="5851366" cy="433608"/>
          </a:xfrm>
        </p:spPr>
        <p:txBody>
          <a:bodyPr/>
          <a:lstStyle>
            <a:lvl1pPr>
              <a:buNone/>
              <a:defRPr sz="2400"/>
            </a:lvl1pPr>
            <a:lvl2pPr>
              <a:buNone/>
              <a:defRPr/>
            </a:lvl2pPr>
            <a:lvl3pPr>
              <a:buNone/>
              <a:defRPr/>
            </a:lvl3pPr>
            <a:lvl4pPr>
              <a:buNone/>
              <a:defRPr/>
            </a:lvl4pPr>
            <a:lvl5pPr>
              <a:buNone/>
              <a:defRPr/>
            </a:lvl5pPr>
          </a:lstStyle>
          <a:p>
            <a:pPr lvl="0"/>
            <a:r>
              <a:rPr lang="en-US"/>
              <a:t>Awardee Name</a:t>
            </a:r>
          </a:p>
        </p:txBody>
      </p:sp>
      <p:sp>
        <p:nvSpPr>
          <p:cNvPr id="14" name="Text Placeholder 13">
            <a:extLst>
              <a:ext uri="{FF2B5EF4-FFF2-40B4-BE49-F238E27FC236}">
                <a16:creationId xmlns:a16="http://schemas.microsoft.com/office/drawing/2014/main" id="{0AE4735C-B610-9439-A9AC-72E04BFCBBF8}"/>
              </a:ext>
            </a:extLst>
          </p:cNvPr>
          <p:cNvSpPr>
            <a:spLocks noGrp="1"/>
          </p:cNvSpPr>
          <p:nvPr>
            <p:ph type="body" sz="quarter" idx="11" hasCustomPrompt="1"/>
          </p:nvPr>
        </p:nvSpPr>
        <p:spPr>
          <a:xfrm>
            <a:off x="5504022" y="4288646"/>
            <a:ext cx="5851366" cy="365125"/>
          </a:xfrm>
        </p:spPr>
        <p:txBody>
          <a:bodyPr/>
          <a:lstStyle>
            <a:lvl1pPr>
              <a:buNone/>
              <a:defRPr sz="1800" b="0" i="0">
                <a:latin typeface="Poppins Medium" pitchFamily="2" charset="77"/>
                <a:cs typeface="Poppins Medium" pitchFamily="2" charset="77"/>
              </a:defRPr>
            </a:lvl1pPr>
            <a:lvl2pPr>
              <a:buNone/>
              <a:defRPr/>
            </a:lvl2pPr>
            <a:lvl3pPr>
              <a:buNone/>
              <a:defRPr/>
            </a:lvl3pPr>
            <a:lvl4pPr>
              <a:buNone/>
              <a:defRPr/>
            </a:lvl4pPr>
            <a:lvl5pPr>
              <a:buNone/>
              <a:defRPr/>
            </a:lvl5pPr>
          </a:lstStyle>
          <a:p>
            <a:pPr lvl="0"/>
            <a:r>
              <a:rPr lang="en-US"/>
              <a:t>Awardee Title</a:t>
            </a:r>
          </a:p>
        </p:txBody>
      </p:sp>
      <p:sp>
        <p:nvSpPr>
          <p:cNvPr id="18" name="Picture Placeholder 16">
            <a:extLst>
              <a:ext uri="{FF2B5EF4-FFF2-40B4-BE49-F238E27FC236}">
                <a16:creationId xmlns:a16="http://schemas.microsoft.com/office/drawing/2014/main" id="{B868DEBB-9E7B-A875-5CC8-B8C5FBBEA63B}"/>
              </a:ext>
            </a:extLst>
          </p:cNvPr>
          <p:cNvSpPr>
            <a:spLocks noGrp="1"/>
          </p:cNvSpPr>
          <p:nvPr>
            <p:ph type="pic" sz="quarter" idx="14"/>
          </p:nvPr>
        </p:nvSpPr>
        <p:spPr>
          <a:xfrm>
            <a:off x="0" y="1"/>
            <a:ext cx="4896091" cy="6599752"/>
          </a:xfrm>
        </p:spPr>
        <p:txBody>
          <a:bodyPr/>
          <a:lstStyle/>
          <a:p>
            <a:r>
              <a:rPr lang="en-US"/>
              <a:t>Click icon to add picture</a:t>
            </a:r>
          </a:p>
        </p:txBody>
      </p:sp>
      <p:sp>
        <p:nvSpPr>
          <p:cNvPr id="5" name="TextBox 4">
            <a:extLst>
              <a:ext uri="{FF2B5EF4-FFF2-40B4-BE49-F238E27FC236}">
                <a16:creationId xmlns:a16="http://schemas.microsoft.com/office/drawing/2014/main" id="{4AED975F-AD53-A180-86CC-311FA1958568}"/>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1451260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t Award Winner Slide Templ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EDC8B-84D4-7D9A-A91E-6AE0CAC22080}"/>
              </a:ext>
            </a:extLst>
          </p:cNvPr>
          <p:cNvSpPr>
            <a:spLocks noGrp="1"/>
          </p:cNvSpPr>
          <p:nvPr>
            <p:ph type="title" hasCustomPrompt="1"/>
          </p:nvPr>
        </p:nvSpPr>
        <p:spPr>
          <a:xfrm>
            <a:off x="5504022" y="1215342"/>
            <a:ext cx="5851366" cy="2483772"/>
          </a:xfrm>
        </p:spPr>
        <p:txBody>
          <a:bodyPr anchor="b"/>
          <a:lstStyle>
            <a:lvl1pPr>
              <a:defRPr sz="4000" b="0" i="0">
                <a:solidFill>
                  <a:schemeClr val="tx1"/>
                </a:solidFill>
                <a:latin typeface="Poppins" pitchFamily="2" charset="77"/>
                <a:cs typeface="Poppins" pitchFamily="2" charset="77"/>
              </a:defRPr>
            </a:lvl1pPr>
          </a:lstStyle>
          <a:p>
            <a:r>
              <a:rPr lang="en-US"/>
              <a:t>Award Title</a:t>
            </a:r>
          </a:p>
        </p:txBody>
      </p:sp>
      <p:sp>
        <p:nvSpPr>
          <p:cNvPr id="4" name="Text Placeholder 3">
            <a:extLst>
              <a:ext uri="{FF2B5EF4-FFF2-40B4-BE49-F238E27FC236}">
                <a16:creationId xmlns:a16="http://schemas.microsoft.com/office/drawing/2014/main" id="{7BB00D94-1C7C-F2E5-89B7-23D7DC5951E4}"/>
              </a:ext>
            </a:extLst>
          </p:cNvPr>
          <p:cNvSpPr>
            <a:spLocks noGrp="1"/>
          </p:cNvSpPr>
          <p:nvPr>
            <p:ph type="body" sz="half" idx="2" hasCustomPrompt="1"/>
          </p:nvPr>
        </p:nvSpPr>
        <p:spPr>
          <a:xfrm>
            <a:off x="5504022" y="4809695"/>
            <a:ext cx="5493162" cy="112218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Credentials</a:t>
            </a:r>
          </a:p>
        </p:txBody>
      </p:sp>
      <p:sp>
        <p:nvSpPr>
          <p:cNvPr id="11" name="Text Placeholder 10">
            <a:extLst>
              <a:ext uri="{FF2B5EF4-FFF2-40B4-BE49-F238E27FC236}">
                <a16:creationId xmlns:a16="http://schemas.microsoft.com/office/drawing/2014/main" id="{EA9A3337-7041-DEF3-8E69-24C196F189AE}"/>
              </a:ext>
            </a:extLst>
          </p:cNvPr>
          <p:cNvSpPr>
            <a:spLocks noGrp="1"/>
          </p:cNvSpPr>
          <p:nvPr>
            <p:ph type="body" sz="quarter" idx="10" hasCustomPrompt="1"/>
          </p:nvPr>
        </p:nvSpPr>
        <p:spPr>
          <a:xfrm>
            <a:off x="5504022" y="3855038"/>
            <a:ext cx="5851366" cy="433608"/>
          </a:xfrm>
        </p:spPr>
        <p:txBody>
          <a:bodyPr/>
          <a:lstStyle>
            <a:lvl1pPr>
              <a:buNone/>
              <a:defRPr sz="2400"/>
            </a:lvl1pPr>
            <a:lvl2pPr>
              <a:buNone/>
              <a:defRPr/>
            </a:lvl2pPr>
            <a:lvl3pPr>
              <a:buNone/>
              <a:defRPr/>
            </a:lvl3pPr>
            <a:lvl4pPr>
              <a:buNone/>
              <a:defRPr/>
            </a:lvl4pPr>
            <a:lvl5pPr>
              <a:buNone/>
              <a:defRPr/>
            </a:lvl5pPr>
          </a:lstStyle>
          <a:p>
            <a:pPr lvl="0"/>
            <a:r>
              <a:rPr lang="en-US"/>
              <a:t>Awardee Name</a:t>
            </a:r>
          </a:p>
        </p:txBody>
      </p:sp>
      <p:sp>
        <p:nvSpPr>
          <p:cNvPr id="14" name="Text Placeholder 13">
            <a:extLst>
              <a:ext uri="{FF2B5EF4-FFF2-40B4-BE49-F238E27FC236}">
                <a16:creationId xmlns:a16="http://schemas.microsoft.com/office/drawing/2014/main" id="{0AE4735C-B610-9439-A9AC-72E04BFCBBF8}"/>
              </a:ext>
            </a:extLst>
          </p:cNvPr>
          <p:cNvSpPr>
            <a:spLocks noGrp="1"/>
          </p:cNvSpPr>
          <p:nvPr>
            <p:ph type="body" sz="quarter" idx="11" hasCustomPrompt="1"/>
          </p:nvPr>
        </p:nvSpPr>
        <p:spPr>
          <a:xfrm>
            <a:off x="5504022" y="4288646"/>
            <a:ext cx="5851366" cy="365125"/>
          </a:xfrm>
        </p:spPr>
        <p:txBody>
          <a:bodyPr/>
          <a:lstStyle>
            <a:lvl1pPr>
              <a:buNone/>
              <a:defRPr sz="1800" b="0" i="0">
                <a:latin typeface="Poppins Medium" pitchFamily="2" charset="77"/>
                <a:cs typeface="Poppins Medium" pitchFamily="2" charset="77"/>
              </a:defRPr>
            </a:lvl1pPr>
            <a:lvl2pPr>
              <a:buNone/>
              <a:defRPr/>
            </a:lvl2pPr>
            <a:lvl3pPr>
              <a:buNone/>
              <a:defRPr/>
            </a:lvl3pPr>
            <a:lvl4pPr>
              <a:buNone/>
              <a:defRPr/>
            </a:lvl4pPr>
            <a:lvl5pPr>
              <a:buNone/>
              <a:defRPr/>
            </a:lvl5pPr>
          </a:lstStyle>
          <a:p>
            <a:pPr lvl="0"/>
            <a:r>
              <a:rPr lang="en-US"/>
              <a:t>Awardee Title</a:t>
            </a:r>
          </a:p>
        </p:txBody>
      </p:sp>
      <p:sp>
        <p:nvSpPr>
          <p:cNvPr id="7" name="Picture Placeholder 16">
            <a:extLst>
              <a:ext uri="{FF2B5EF4-FFF2-40B4-BE49-F238E27FC236}">
                <a16:creationId xmlns:a16="http://schemas.microsoft.com/office/drawing/2014/main" id="{778D57E4-4228-815E-1593-C6AF9370F203}"/>
              </a:ext>
            </a:extLst>
          </p:cNvPr>
          <p:cNvSpPr>
            <a:spLocks noGrp="1"/>
          </p:cNvSpPr>
          <p:nvPr>
            <p:ph type="pic" sz="quarter" idx="14"/>
          </p:nvPr>
        </p:nvSpPr>
        <p:spPr>
          <a:xfrm>
            <a:off x="0" y="1"/>
            <a:ext cx="4896091" cy="6599752"/>
          </a:xfrm>
        </p:spPr>
        <p:txBody>
          <a:bodyPr/>
          <a:lstStyle/>
          <a:p>
            <a:r>
              <a:rPr lang="en-US"/>
              <a:t>Click icon to add picture</a:t>
            </a:r>
          </a:p>
        </p:txBody>
      </p:sp>
      <p:sp>
        <p:nvSpPr>
          <p:cNvPr id="5" name="TextBox 4">
            <a:extLst>
              <a:ext uri="{FF2B5EF4-FFF2-40B4-BE49-F238E27FC236}">
                <a16:creationId xmlns:a16="http://schemas.microsoft.com/office/drawing/2014/main" id="{F0C67218-6EF3-A6A3-9A8D-B3F7CD805F15}"/>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2292982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t Section Divider 2-line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DA68-993B-3CAD-824E-0F4FCAB2468C}"/>
              </a:ext>
            </a:extLst>
          </p:cNvPr>
          <p:cNvSpPr>
            <a:spLocks noGrp="1"/>
          </p:cNvSpPr>
          <p:nvPr>
            <p:ph type="title"/>
          </p:nvPr>
        </p:nvSpPr>
        <p:spPr>
          <a:xfrm>
            <a:off x="1207539" y="1770184"/>
            <a:ext cx="6775878" cy="1512642"/>
          </a:xfrm>
        </p:spPr>
        <p:txBody>
          <a:bodyPr bIns="0" anchor="b" anchorCtr="0"/>
          <a:lstStyle>
            <a:lvl1pPr>
              <a:defRPr sz="4800" b="0" i="0">
                <a:solidFill>
                  <a:schemeClr val="tx1"/>
                </a:solidFill>
                <a:latin typeface="Poppins" pitchFamily="2" charset="77"/>
                <a:cs typeface="Poppins" pitchFamily="2" charset="77"/>
              </a:defRPr>
            </a:lvl1pPr>
          </a:lstStyle>
          <a:p>
            <a:r>
              <a:rPr lang="en-US"/>
              <a:t>Click to edit Master title style</a:t>
            </a:r>
          </a:p>
        </p:txBody>
      </p:sp>
      <p:sp>
        <p:nvSpPr>
          <p:cNvPr id="8" name="Content Placeholder 7">
            <a:extLst>
              <a:ext uri="{FF2B5EF4-FFF2-40B4-BE49-F238E27FC236}">
                <a16:creationId xmlns:a16="http://schemas.microsoft.com/office/drawing/2014/main" id="{F6AD5436-5338-E1B9-12A4-812FDF91397B}"/>
              </a:ext>
            </a:extLst>
          </p:cNvPr>
          <p:cNvSpPr>
            <a:spLocks noGrp="1"/>
          </p:cNvSpPr>
          <p:nvPr>
            <p:ph sz="quarter" idx="10"/>
          </p:nvPr>
        </p:nvSpPr>
        <p:spPr>
          <a:xfrm>
            <a:off x="1207538" y="3487250"/>
            <a:ext cx="6775878" cy="1009280"/>
          </a:xfrm>
        </p:spPr>
        <p:txBody>
          <a:bodyPr tIns="0" anchor="t" anchorCtr="0"/>
          <a:lstStyle>
            <a:lvl1pPr marL="0" indent="0">
              <a:lnSpc>
                <a:spcPct val="100000"/>
              </a:lnSpc>
              <a:buNone/>
              <a:defRPr sz="2400">
                <a:solidFill>
                  <a:schemeClr val="tx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D2B23FDC-3BE2-86E2-F454-DF9F18140A29}"/>
              </a:ext>
            </a:extLst>
          </p:cNvPr>
          <p:cNvSpPr>
            <a:spLocks noGrp="1"/>
          </p:cNvSpPr>
          <p:nvPr>
            <p:ph type="body" sz="quarter" idx="11" hasCustomPrompt="1"/>
          </p:nvPr>
        </p:nvSpPr>
        <p:spPr>
          <a:xfrm>
            <a:off x="1207538" y="1255834"/>
            <a:ext cx="3775075" cy="514350"/>
          </a:xfrm>
        </p:spPr>
        <p:txBody>
          <a:bodyPr/>
          <a:lstStyle>
            <a:lvl1pPr>
              <a:buNone/>
              <a:defRPr b="1" i="0">
                <a:solidFill>
                  <a:schemeClr val="accent5"/>
                </a:solidFill>
                <a:latin typeface="Poppins SemiBold" pitchFamily="2" charset="77"/>
                <a:cs typeface="Poppins SemiBold" pitchFamily="2" charset="77"/>
              </a:defRPr>
            </a:lvl1pPr>
          </a:lstStyle>
          <a:p>
            <a:pPr lvl="0"/>
            <a:r>
              <a:rPr lang="en-US"/>
              <a:t>01</a:t>
            </a:r>
          </a:p>
        </p:txBody>
      </p:sp>
      <p:sp>
        <p:nvSpPr>
          <p:cNvPr id="4" name="TextBox 3">
            <a:extLst>
              <a:ext uri="{FF2B5EF4-FFF2-40B4-BE49-F238E27FC236}">
                <a16:creationId xmlns:a16="http://schemas.microsoft.com/office/drawing/2014/main" id="{DA30523D-935A-566C-EDA3-4761FC375986}"/>
              </a:ext>
            </a:extLst>
          </p:cNvPr>
          <p:cNvSpPr txBox="1"/>
          <p:nvPr userDrawn="1"/>
        </p:nvSpPr>
        <p:spPr>
          <a:xfrm>
            <a:off x="208721" y="6470374"/>
            <a:ext cx="4244009" cy="276999"/>
          </a:xfrm>
          <a:prstGeom prst="rect">
            <a:avLst/>
          </a:prstGeom>
          <a:noFill/>
        </p:spPr>
        <p:txBody>
          <a:bodyPr wrap="square" rtlCol="0">
            <a:spAutoFit/>
          </a:bodyPr>
          <a:lstStyle/>
          <a:p>
            <a:r>
              <a:rPr lang="en-US" sz="1200" b="0" i="0">
                <a:solidFill>
                  <a:schemeClr val="bg1"/>
                </a:solidFill>
                <a:latin typeface="Poppins Medium" pitchFamily="2" charset="77"/>
                <a:cs typeface="Poppins Medium" pitchFamily="2" charset="77"/>
              </a:rPr>
              <a:t>ASHG</a:t>
            </a:r>
            <a:r>
              <a:rPr lang="en-US" sz="1200" b="0">
                <a:solidFill>
                  <a:schemeClr val="bg1"/>
                </a:solidFill>
                <a:latin typeface="Poppins" pitchFamily="2" charset="77"/>
                <a:cs typeface="Poppins" pitchFamily="2" charset="77"/>
              </a:rPr>
              <a:t> Annual Meeting 2026</a:t>
            </a:r>
          </a:p>
        </p:txBody>
      </p:sp>
    </p:spTree>
    <p:extLst>
      <p:ext uri="{BB962C8B-B14F-4D97-AF65-F5344CB8AC3E}">
        <p14:creationId xmlns:p14="http://schemas.microsoft.com/office/powerpoint/2010/main" val="443751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lt Section Divider 3-line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DA68-993B-3CAD-824E-0F4FCAB2468C}"/>
              </a:ext>
            </a:extLst>
          </p:cNvPr>
          <p:cNvSpPr>
            <a:spLocks noGrp="1"/>
          </p:cNvSpPr>
          <p:nvPr>
            <p:ph type="title"/>
          </p:nvPr>
        </p:nvSpPr>
        <p:spPr>
          <a:xfrm>
            <a:off x="1207539" y="1946030"/>
            <a:ext cx="6775878" cy="2168769"/>
          </a:xfrm>
        </p:spPr>
        <p:txBody>
          <a:bodyPr bIns="0" anchor="b" anchorCtr="0"/>
          <a:lstStyle>
            <a:lvl1pPr>
              <a:defRPr sz="4800" b="0" i="0">
                <a:solidFill>
                  <a:schemeClr val="tx1"/>
                </a:solidFill>
                <a:latin typeface="Poppins" pitchFamily="2" charset="77"/>
                <a:cs typeface="Poppins" pitchFamily="2" charset="77"/>
              </a:defRPr>
            </a:lvl1pPr>
          </a:lstStyle>
          <a:p>
            <a:r>
              <a:rPr lang="en-US"/>
              <a:t>Click to edit Master title style</a:t>
            </a:r>
          </a:p>
        </p:txBody>
      </p:sp>
      <p:sp>
        <p:nvSpPr>
          <p:cNvPr id="8" name="Content Placeholder 7">
            <a:extLst>
              <a:ext uri="{FF2B5EF4-FFF2-40B4-BE49-F238E27FC236}">
                <a16:creationId xmlns:a16="http://schemas.microsoft.com/office/drawing/2014/main" id="{F6AD5436-5338-E1B9-12A4-812FDF91397B}"/>
              </a:ext>
            </a:extLst>
          </p:cNvPr>
          <p:cNvSpPr>
            <a:spLocks noGrp="1"/>
          </p:cNvSpPr>
          <p:nvPr>
            <p:ph sz="quarter" idx="10"/>
          </p:nvPr>
        </p:nvSpPr>
        <p:spPr>
          <a:xfrm>
            <a:off x="1207538" y="4323803"/>
            <a:ext cx="6775878" cy="1009280"/>
          </a:xfrm>
        </p:spPr>
        <p:txBody>
          <a:bodyPr tIns="0" anchor="t" anchorCtr="0"/>
          <a:lstStyle>
            <a:lvl1pPr marL="0" indent="0">
              <a:lnSpc>
                <a:spcPct val="100000"/>
              </a:lnSpc>
              <a:buNone/>
              <a:defRPr sz="2400">
                <a:solidFill>
                  <a:schemeClr val="tx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D2B23FDC-3BE2-86E2-F454-DF9F18140A29}"/>
              </a:ext>
            </a:extLst>
          </p:cNvPr>
          <p:cNvSpPr>
            <a:spLocks noGrp="1"/>
          </p:cNvSpPr>
          <p:nvPr>
            <p:ph type="body" sz="quarter" idx="11" hasCustomPrompt="1"/>
          </p:nvPr>
        </p:nvSpPr>
        <p:spPr>
          <a:xfrm>
            <a:off x="1207538" y="1431680"/>
            <a:ext cx="3775075" cy="514350"/>
          </a:xfrm>
        </p:spPr>
        <p:txBody>
          <a:bodyPr/>
          <a:lstStyle>
            <a:lvl1pPr>
              <a:buNone/>
              <a:defRPr b="1" i="0">
                <a:solidFill>
                  <a:schemeClr val="accent5"/>
                </a:solidFill>
                <a:latin typeface="Poppins SemiBold" pitchFamily="2" charset="77"/>
                <a:cs typeface="Poppins SemiBold" pitchFamily="2" charset="77"/>
              </a:defRPr>
            </a:lvl1pPr>
          </a:lstStyle>
          <a:p>
            <a:pPr lvl="0"/>
            <a:r>
              <a:rPr lang="en-US"/>
              <a:t>01</a:t>
            </a:r>
          </a:p>
        </p:txBody>
      </p:sp>
      <p:sp>
        <p:nvSpPr>
          <p:cNvPr id="3" name="TextBox 2">
            <a:extLst>
              <a:ext uri="{FF2B5EF4-FFF2-40B4-BE49-F238E27FC236}">
                <a16:creationId xmlns:a16="http://schemas.microsoft.com/office/drawing/2014/main" id="{9253400A-DCF4-63B3-439B-22D7C2C3938C}"/>
              </a:ext>
            </a:extLst>
          </p:cNvPr>
          <p:cNvSpPr txBox="1"/>
          <p:nvPr userDrawn="1"/>
        </p:nvSpPr>
        <p:spPr>
          <a:xfrm>
            <a:off x="208721" y="6470374"/>
            <a:ext cx="4244009" cy="276999"/>
          </a:xfrm>
          <a:prstGeom prst="rect">
            <a:avLst/>
          </a:prstGeom>
          <a:noFill/>
        </p:spPr>
        <p:txBody>
          <a:bodyPr wrap="square" rtlCol="0">
            <a:spAutoFit/>
          </a:bodyPr>
          <a:lstStyle/>
          <a:p>
            <a:r>
              <a:rPr lang="en-US" sz="1200" b="0" i="0">
                <a:solidFill>
                  <a:schemeClr val="bg1"/>
                </a:solidFill>
                <a:latin typeface="Poppins Medium" pitchFamily="2" charset="77"/>
                <a:cs typeface="Poppins Medium" pitchFamily="2" charset="77"/>
              </a:rPr>
              <a:t>ASHG</a:t>
            </a:r>
            <a:r>
              <a:rPr lang="en-US" sz="1200" b="0">
                <a:solidFill>
                  <a:schemeClr val="bg1"/>
                </a:solidFill>
                <a:latin typeface="Poppins" pitchFamily="2" charset="77"/>
                <a:cs typeface="Poppins" pitchFamily="2" charset="77"/>
              </a:rPr>
              <a:t> Annual Meeting 2026</a:t>
            </a:r>
          </a:p>
        </p:txBody>
      </p:sp>
    </p:spTree>
    <p:extLst>
      <p:ext uri="{BB962C8B-B14F-4D97-AF65-F5344CB8AC3E}">
        <p14:creationId xmlns:p14="http://schemas.microsoft.com/office/powerpoint/2010/main" val="2268362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B51E0-3C5C-70F9-C1FB-33548E129F1E}"/>
              </a:ext>
            </a:extLst>
          </p:cNvPr>
          <p:cNvSpPr>
            <a:spLocks noGrp="1"/>
          </p:cNvSpPr>
          <p:nvPr>
            <p:ph type="title"/>
          </p:nvPr>
        </p:nvSpPr>
        <p:spPr/>
        <p:txBody>
          <a:bodyPr/>
          <a:lstStyle>
            <a:lvl1pPr>
              <a:defRPr>
                <a:solidFill>
                  <a:schemeClr val="tx1"/>
                </a:solidFill>
                <a:latin typeface="Poppins" pitchFamily="2" charset="77"/>
                <a:cs typeface="Poppins" pitchFamily="2" charset="77"/>
              </a:defRPr>
            </a:lvl1pPr>
          </a:lstStyle>
          <a:p>
            <a:r>
              <a:rPr lang="en-US"/>
              <a:t>Click to edit Master title style</a:t>
            </a:r>
          </a:p>
        </p:txBody>
      </p:sp>
      <p:sp>
        <p:nvSpPr>
          <p:cNvPr id="3" name="Content Placeholder 2">
            <a:extLst>
              <a:ext uri="{FF2B5EF4-FFF2-40B4-BE49-F238E27FC236}">
                <a16:creationId xmlns:a16="http://schemas.microsoft.com/office/drawing/2014/main" id="{A6C0CFDD-B58E-AED0-55E6-31499DF92F7A}"/>
              </a:ext>
            </a:extLst>
          </p:cNvPr>
          <p:cNvSpPr>
            <a:spLocks noGrp="1"/>
          </p:cNvSpPr>
          <p:nvPr>
            <p:ph idx="1"/>
          </p:nvPr>
        </p:nvSpPr>
        <p:spPr/>
        <p:txBody>
          <a:bodyPr/>
          <a:lstStyle>
            <a:lvl1pPr>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80BAB48D-02F2-2A9C-0D68-DEFE8787417E}"/>
              </a:ext>
            </a:extLst>
          </p:cNvPr>
          <p:cNvSpPr txBox="1"/>
          <p:nvPr userDrawn="1"/>
        </p:nvSpPr>
        <p:spPr>
          <a:xfrm>
            <a:off x="9655401" y="6516190"/>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10352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8B82-DB23-D378-E0C4-C38E9A7790D2}"/>
              </a:ext>
            </a:extLst>
          </p:cNvPr>
          <p:cNvSpPr>
            <a:spLocks noGrp="1"/>
          </p:cNvSpPr>
          <p:nvPr>
            <p:ph type="title"/>
          </p:nvPr>
        </p:nvSpPr>
        <p:spPr>
          <a:xfrm>
            <a:off x="831850" y="1709738"/>
            <a:ext cx="8285256" cy="2852737"/>
          </a:xfrm>
        </p:spPr>
        <p:txBody>
          <a:bodyPr anchor="b"/>
          <a:lstStyle>
            <a:lvl1pPr>
              <a:defRPr sz="6000">
                <a:solidFill>
                  <a:schemeClr val="tx1"/>
                </a:solidFill>
                <a:latin typeface="Poppins" pitchFamily="2" charset="77"/>
                <a:cs typeface="Poppins" pitchFamily="2" charset="77"/>
              </a:defRPr>
            </a:lvl1pPr>
          </a:lstStyle>
          <a:p>
            <a:r>
              <a:rPr lang="en-US"/>
              <a:t>Click to edit Master title style</a:t>
            </a:r>
          </a:p>
        </p:txBody>
      </p:sp>
      <p:sp>
        <p:nvSpPr>
          <p:cNvPr id="3" name="Text Placeholder 2">
            <a:extLst>
              <a:ext uri="{FF2B5EF4-FFF2-40B4-BE49-F238E27FC236}">
                <a16:creationId xmlns:a16="http://schemas.microsoft.com/office/drawing/2014/main" id="{209C5071-864B-302D-50BF-5D53EA970AA4}"/>
              </a:ext>
            </a:extLst>
          </p:cNvPr>
          <p:cNvSpPr>
            <a:spLocks noGrp="1"/>
          </p:cNvSpPr>
          <p:nvPr>
            <p:ph type="body" idx="1"/>
          </p:nvPr>
        </p:nvSpPr>
        <p:spPr>
          <a:xfrm>
            <a:off x="831850" y="4837051"/>
            <a:ext cx="8285256" cy="1124838"/>
          </a:xfrm>
        </p:spPr>
        <p:txBody>
          <a:bodyPr/>
          <a:lstStyle>
            <a:lvl1pPr marL="0" indent="0">
              <a:buNone/>
              <a:defRPr sz="2400">
                <a:solidFill>
                  <a:schemeClr val="tx1"/>
                </a:solidFill>
                <a:latin typeface="Poppins" pitchFamily="2" charset="77"/>
                <a:cs typeface="Poppi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14" name="Picture 13">
            <a:extLst>
              <a:ext uri="{FF2B5EF4-FFF2-40B4-BE49-F238E27FC236}">
                <a16:creationId xmlns:a16="http://schemas.microsoft.com/office/drawing/2014/main" id="{6DF812C7-0993-B0D1-A847-0A7FFE052934}"/>
              </a:ext>
            </a:extLst>
          </p:cNvPr>
          <p:cNvPicPr>
            <a:picLocks noChangeAspect="1"/>
          </p:cNvPicPr>
          <p:nvPr userDrawn="1"/>
        </p:nvPicPr>
        <p:blipFill>
          <a:blip r:embed="rId3"/>
          <a:stretch>
            <a:fillRect/>
          </a:stretch>
        </p:blipFill>
        <p:spPr>
          <a:xfrm>
            <a:off x="9601200" y="322729"/>
            <a:ext cx="2124635" cy="1195107"/>
          </a:xfrm>
          <a:prstGeom prst="rect">
            <a:avLst/>
          </a:prstGeom>
        </p:spPr>
      </p:pic>
    </p:spTree>
    <p:extLst>
      <p:ext uri="{BB962C8B-B14F-4D97-AF65-F5344CB8AC3E}">
        <p14:creationId xmlns:p14="http://schemas.microsoft.com/office/powerpoint/2010/main" val="3943588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AD42-F7D3-274D-59FB-264FDF2A9682}"/>
              </a:ext>
            </a:extLst>
          </p:cNvPr>
          <p:cNvSpPr>
            <a:spLocks noGrp="1"/>
          </p:cNvSpPr>
          <p:nvPr>
            <p:ph type="title"/>
          </p:nvPr>
        </p:nvSpPr>
        <p:spPr>
          <a:xfrm>
            <a:off x="839788" y="365125"/>
            <a:ext cx="10515600" cy="1325563"/>
          </a:xfrm>
        </p:spPr>
        <p:txBody>
          <a:bodyPr/>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90B5763-C924-D720-626F-282C2140EE0C}"/>
              </a:ext>
            </a:extLst>
          </p:cNvPr>
          <p:cNvSpPr>
            <a:spLocks noGrp="1"/>
          </p:cNvSpPr>
          <p:nvPr>
            <p:ph type="body" idx="1" hasCustomPrompt="1"/>
          </p:nvPr>
        </p:nvSpPr>
        <p:spPr>
          <a:xfrm>
            <a:off x="839788" y="1681163"/>
            <a:ext cx="5157787" cy="823912"/>
          </a:xfrm>
        </p:spPr>
        <p:txBody>
          <a:bodyPr anchor="b"/>
          <a:lstStyle>
            <a:lvl1pPr marL="0" indent="0">
              <a:buNone/>
              <a:defRPr sz="2400" b="1" i="0">
                <a:solidFill>
                  <a:schemeClr val="accent4"/>
                </a:solidFill>
                <a:latin typeface="Poppins SemiBold" pitchFamily="2" charset="77"/>
                <a:cs typeface="Poppins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C9CA4-EE72-E1B3-FD0A-4ADC2FCA156C}"/>
              </a:ext>
            </a:extLst>
          </p:cNvPr>
          <p:cNvSpPr>
            <a:spLocks noGrp="1"/>
          </p:cNvSpPr>
          <p:nvPr>
            <p:ph sz="half" idx="2"/>
          </p:nvPr>
        </p:nvSpPr>
        <p:spPr>
          <a:xfrm>
            <a:off x="839788" y="2671762"/>
            <a:ext cx="5157787" cy="3312180"/>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8DB13D-1828-9145-9400-2C2163557218}"/>
              </a:ext>
            </a:extLst>
          </p:cNvPr>
          <p:cNvSpPr>
            <a:spLocks noGrp="1"/>
          </p:cNvSpPr>
          <p:nvPr>
            <p:ph type="body" sz="quarter" idx="3" hasCustomPrompt="1"/>
          </p:nvPr>
        </p:nvSpPr>
        <p:spPr>
          <a:xfrm>
            <a:off x="6172200" y="1681163"/>
            <a:ext cx="5183188" cy="823912"/>
          </a:xfrm>
        </p:spPr>
        <p:txBody>
          <a:bodyPr anchor="b"/>
          <a:lstStyle>
            <a:lvl1pPr marL="0" indent="0">
              <a:buNone/>
              <a:defRPr sz="2400" b="0" i="0">
                <a:solidFill>
                  <a:schemeClr val="accent4"/>
                </a:solidFill>
                <a:latin typeface="Poppins SemiBold" pitchFamily="2" charset="77"/>
                <a:cs typeface="Poppins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93053C45-6878-578C-24D6-84BA786B7DFB}"/>
              </a:ext>
            </a:extLst>
          </p:cNvPr>
          <p:cNvSpPr>
            <a:spLocks noGrp="1"/>
          </p:cNvSpPr>
          <p:nvPr>
            <p:ph sz="half" idx="10"/>
          </p:nvPr>
        </p:nvSpPr>
        <p:spPr>
          <a:xfrm>
            <a:off x="6178270" y="2671761"/>
            <a:ext cx="5157787" cy="3312181"/>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9C01F3FE-6D94-9874-7966-883C9A172D69}"/>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3130320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Left Photo R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AD42-F7D3-274D-59FB-264FDF2A9682}"/>
              </a:ext>
            </a:extLst>
          </p:cNvPr>
          <p:cNvSpPr>
            <a:spLocks noGrp="1"/>
          </p:cNvSpPr>
          <p:nvPr>
            <p:ph type="title"/>
          </p:nvPr>
        </p:nvSpPr>
        <p:spPr>
          <a:xfrm>
            <a:off x="839788" y="365125"/>
            <a:ext cx="10515600" cy="1325563"/>
          </a:xfrm>
        </p:spPr>
        <p:txBody>
          <a:bodyPr/>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90B5763-C924-D720-626F-282C2140EE0C}"/>
              </a:ext>
            </a:extLst>
          </p:cNvPr>
          <p:cNvSpPr>
            <a:spLocks noGrp="1"/>
          </p:cNvSpPr>
          <p:nvPr>
            <p:ph type="body" idx="1" hasCustomPrompt="1"/>
          </p:nvPr>
        </p:nvSpPr>
        <p:spPr>
          <a:xfrm>
            <a:off x="839788" y="1681163"/>
            <a:ext cx="5157787" cy="823912"/>
          </a:xfrm>
        </p:spPr>
        <p:txBody>
          <a:bodyPr anchor="b"/>
          <a:lstStyle>
            <a:lvl1pPr marL="0" indent="0">
              <a:buNone/>
              <a:defRPr sz="2400" b="1" i="0">
                <a:solidFill>
                  <a:schemeClr val="accent4"/>
                </a:solidFill>
                <a:latin typeface="Poppins SemiBold" pitchFamily="2" charset="77"/>
                <a:cs typeface="Poppins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C9CA4-EE72-E1B3-FD0A-4ADC2FCA156C}"/>
              </a:ext>
            </a:extLst>
          </p:cNvPr>
          <p:cNvSpPr>
            <a:spLocks noGrp="1"/>
          </p:cNvSpPr>
          <p:nvPr>
            <p:ph sz="half" idx="2"/>
          </p:nvPr>
        </p:nvSpPr>
        <p:spPr>
          <a:xfrm>
            <a:off x="839788" y="2671762"/>
            <a:ext cx="5157787" cy="3312180"/>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DFBAE198-DC0C-4B7C-8818-120FCAE5D43D}"/>
              </a:ext>
            </a:extLst>
          </p:cNvPr>
          <p:cNvSpPr>
            <a:spLocks noGrp="1"/>
          </p:cNvSpPr>
          <p:nvPr>
            <p:ph type="pic" sz="quarter" idx="10"/>
          </p:nvPr>
        </p:nvSpPr>
        <p:spPr>
          <a:xfrm>
            <a:off x="6441440" y="1778000"/>
            <a:ext cx="4913948" cy="4205288"/>
          </a:xfrm>
        </p:spPr>
        <p:txBody>
          <a:bodyPr/>
          <a:lstStyle/>
          <a:p>
            <a:r>
              <a:rPr lang="en-US"/>
              <a:t>Click icon to add picture</a:t>
            </a:r>
          </a:p>
        </p:txBody>
      </p:sp>
      <p:sp>
        <p:nvSpPr>
          <p:cNvPr id="6" name="TextBox 5">
            <a:extLst>
              <a:ext uri="{FF2B5EF4-FFF2-40B4-BE49-F238E27FC236}">
                <a16:creationId xmlns:a16="http://schemas.microsoft.com/office/drawing/2014/main" id="{ECDF43E8-0493-A2B5-BBA8-4811B3A43F3A}"/>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2877937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 Content Left Photo R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AD42-F7D3-274D-59FB-264FDF2A9682}"/>
              </a:ext>
            </a:extLst>
          </p:cNvPr>
          <p:cNvSpPr>
            <a:spLocks noGrp="1"/>
          </p:cNvSpPr>
          <p:nvPr>
            <p:ph type="title"/>
          </p:nvPr>
        </p:nvSpPr>
        <p:spPr>
          <a:xfrm>
            <a:off x="839788" y="365125"/>
            <a:ext cx="10515600" cy="1325563"/>
          </a:xfrm>
        </p:spPr>
        <p:txBody>
          <a:bodyPr/>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90B5763-C924-D720-626F-282C2140EE0C}"/>
              </a:ext>
            </a:extLst>
          </p:cNvPr>
          <p:cNvSpPr>
            <a:spLocks noGrp="1"/>
          </p:cNvSpPr>
          <p:nvPr>
            <p:ph type="body" idx="1" hasCustomPrompt="1"/>
          </p:nvPr>
        </p:nvSpPr>
        <p:spPr>
          <a:xfrm>
            <a:off x="839788" y="1681163"/>
            <a:ext cx="5157787" cy="823912"/>
          </a:xfrm>
        </p:spPr>
        <p:txBody>
          <a:bodyPr anchor="b"/>
          <a:lstStyle>
            <a:lvl1pPr marL="0" indent="0">
              <a:buNone/>
              <a:defRPr sz="2400" b="1" i="0">
                <a:solidFill>
                  <a:schemeClr val="accent2"/>
                </a:solidFill>
                <a:latin typeface="Poppins SemiBold" pitchFamily="2" charset="77"/>
                <a:cs typeface="Poppins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C9CA4-EE72-E1B3-FD0A-4ADC2FCA156C}"/>
              </a:ext>
            </a:extLst>
          </p:cNvPr>
          <p:cNvSpPr>
            <a:spLocks noGrp="1"/>
          </p:cNvSpPr>
          <p:nvPr>
            <p:ph sz="half" idx="2"/>
          </p:nvPr>
        </p:nvSpPr>
        <p:spPr>
          <a:xfrm>
            <a:off x="839788" y="2671762"/>
            <a:ext cx="5157787" cy="3312180"/>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DFBAE198-DC0C-4B7C-8818-120FCAE5D43D}"/>
              </a:ext>
            </a:extLst>
          </p:cNvPr>
          <p:cNvSpPr>
            <a:spLocks noGrp="1"/>
          </p:cNvSpPr>
          <p:nvPr>
            <p:ph type="pic" sz="quarter" idx="10"/>
          </p:nvPr>
        </p:nvSpPr>
        <p:spPr>
          <a:xfrm>
            <a:off x="6441440" y="1778000"/>
            <a:ext cx="4913948" cy="4205288"/>
          </a:xfrm>
        </p:spPr>
        <p:txBody>
          <a:bodyPr/>
          <a:lstStyle/>
          <a:p>
            <a:r>
              <a:rPr lang="en-US"/>
              <a:t>Click icon to add picture</a:t>
            </a:r>
          </a:p>
        </p:txBody>
      </p:sp>
      <p:sp>
        <p:nvSpPr>
          <p:cNvPr id="6" name="TextBox 5">
            <a:extLst>
              <a:ext uri="{FF2B5EF4-FFF2-40B4-BE49-F238E27FC236}">
                <a16:creationId xmlns:a16="http://schemas.microsoft.com/office/drawing/2014/main" id="{8DCA5795-63FB-8817-F419-7942B4393503}"/>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392257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lt 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AD42-F7D3-274D-59FB-264FDF2A9682}"/>
              </a:ext>
            </a:extLst>
          </p:cNvPr>
          <p:cNvSpPr>
            <a:spLocks noGrp="1"/>
          </p:cNvSpPr>
          <p:nvPr>
            <p:ph type="title"/>
          </p:nvPr>
        </p:nvSpPr>
        <p:spPr>
          <a:xfrm>
            <a:off x="839788" y="365125"/>
            <a:ext cx="10515600" cy="1325563"/>
          </a:xfrm>
        </p:spPr>
        <p:txBody>
          <a:bodyPr/>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90B5763-C924-D720-626F-282C2140EE0C}"/>
              </a:ext>
            </a:extLst>
          </p:cNvPr>
          <p:cNvSpPr>
            <a:spLocks noGrp="1"/>
          </p:cNvSpPr>
          <p:nvPr>
            <p:ph type="body" idx="1" hasCustomPrompt="1"/>
          </p:nvPr>
        </p:nvSpPr>
        <p:spPr>
          <a:xfrm>
            <a:off x="839788" y="1681163"/>
            <a:ext cx="5157787" cy="823912"/>
          </a:xfrm>
        </p:spPr>
        <p:txBody>
          <a:bodyPr anchor="b"/>
          <a:lstStyle>
            <a:lvl1pPr marL="0" indent="0">
              <a:buNone/>
              <a:defRPr sz="2400" b="1" i="0">
                <a:solidFill>
                  <a:schemeClr val="accent2"/>
                </a:solidFill>
                <a:latin typeface="Poppins SemiBold" pitchFamily="2" charset="77"/>
                <a:cs typeface="Poppins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C9CA4-EE72-E1B3-FD0A-4ADC2FCA156C}"/>
              </a:ext>
            </a:extLst>
          </p:cNvPr>
          <p:cNvSpPr>
            <a:spLocks noGrp="1"/>
          </p:cNvSpPr>
          <p:nvPr>
            <p:ph sz="half" idx="2"/>
          </p:nvPr>
        </p:nvSpPr>
        <p:spPr>
          <a:xfrm>
            <a:off x="839788" y="2671762"/>
            <a:ext cx="5157787" cy="3312180"/>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8DB13D-1828-9145-9400-2C2163557218}"/>
              </a:ext>
            </a:extLst>
          </p:cNvPr>
          <p:cNvSpPr>
            <a:spLocks noGrp="1"/>
          </p:cNvSpPr>
          <p:nvPr>
            <p:ph type="body" sz="quarter" idx="3" hasCustomPrompt="1"/>
          </p:nvPr>
        </p:nvSpPr>
        <p:spPr>
          <a:xfrm>
            <a:off x="6172200" y="1681163"/>
            <a:ext cx="5183188" cy="823912"/>
          </a:xfrm>
        </p:spPr>
        <p:txBody>
          <a:bodyPr anchor="b"/>
          <a:lstStyle>
            <a:lvl1pPr marL="0" indent="0">
              <a:buNone/>
              <a:defRPr sz="2400" b="0" i="0">
                <a:solidFill>
                  <a:schemeClr val="accent2"/>
                </a:solidFill>
                <a:latin typeface="Poppins SemiBold" pitchFamily="2" charset="77"/>
                <a:cs typeface="Poppins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93053C45-6878-578C-24D6-84BA786B7DFB}"/>
              </a:ext>
            </a:extLst>
          </p:cNvPr>
          <p:cNvSpPr>
            <a:spLocks noGrp="1"/>
          </p:cNvSpPr>
          <p:nvPr>
            <p:ph sz="half" idx="10"/>
          </p:nvPr>
        </p:nvSpPr>
        <p:spPr>
          <a:xfrm>
            <a:off x="6178270" y="2671761"/>
            <a:ext cx="5157787" cy="3312181"/>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677F5EE-9CEC-476A-9940-5E8A7096C01B}"/>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2283266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57542D-9D47-59C6-C5A0-EE12B22B713A}"/>
              </a:ext>
            </a:extLst>
          </p:cNvPr>
          <p:cNvSpPr txBox="1"/>
          <p:nvPr userDrawn="1"/>
        </p:nvSpPr>
        <p:spPr>
          <a:xfrm>
            <a:off x="9655401" y="6516190"/>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17788039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EDC8B-84D4-7D9A-A91E-6AE0CAC22080}"/>
              </a:ext>
            </a:extLst>
          </p:cNvPr>
          <p:cNvSpPr>
            <a:spLocks noGrp="1"/>
          </p:cNvSpPr>
          <p:nvPr>
            <p:ph type="title"/>
          </p:nvPr>
        </p:nvSpPr>
        <p:spPr>
          <a:xfrm>
            <a:off x="839788" y="1627096"/>
            <a:ext cx="3932237" cy="1600200"/>
          </a:xfrm>
        </p:spPr>
        <p:txBody>
          <a:bodyPr anchor="b"/>
          <a:lstStyle>
            <a:lvl1pPr>
              <a:defRPr sz="3200">
                <a:solidFill>
                  <a:schemeClr val="tx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DDD38FC7-CE32-F9A4-0FBB-C103DD92B0D9}"/>
              </a:ext>
            </a:extLst>
          </p:cNvPr>
          <p:cNvSpPr>
            <a:spLocks noGrp="1"/>
          </p:cNvSpPr>
          <p:nvPr>
            <p:ph type="pic" idx="1"/>
          </p:nvPr>
        </p:nvSpPr>
        <p:spPr>
          <a:xfrm>
            <a:off x="5183188" y="874060"/>
            <a:ext cx="5803059" cy="510988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BB00D94-1C7C-F2E5-89B7-23D7DC5951E4}"/>
              </a:ext>
            </a:extLst>
          </p:cNvPr>
          <p:cNvSpPr>
            <a:spLocks noGrp="1"/>
          </p:cNvSpPr>
          <p:nvPr>
            <p:ph type="body" sz="half" idx="2"/>
          </p:nvPr>
        </p:nvSpPr>
        <p:spPr>
          <a:xfrm>
            <a:off x="839788" y="3375214"/>
            <a:ext cx="3932237" cy="2581835"/>
          </a:xfrm>
        </p:spPr>
        <p:txBody>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TextBox 5">
            <a:extLst>
              <a:ext uri="{FF2B5EF4-FFF2-40B4-BE49-F238E27FC236}">
                <a16:creationId xmlns:a16="http://schemas.microsoft.com/office/drawing/2014/main" id="{FBF60F10-ADD5-925B-E652-61332A024DA6}"/>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536567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lt 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4827E566-D24D-A973-E43E-6CD29FA27746}"/>
              </a:ext>
            </a:extLst>
          </p:cNvPr>
          <p:cNvSpPr>
            <a:spLocks noGrp="1"/>
          </p:cNvSpPr>
          <p:nvPr>
            <p:ph type="pic" idx="1"/>
          </p:nvPr>
        </p:nvSpPr>
        <p:spPr>
          <a:xfrm>
            <a:off x="5183188" y="874060"/>
            <a:ext cx="5803059" cy="510988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itle 1">
            <a:extLst>
              <a:ext uri="{FF2B5EF4-FFF2-40B4-BE49-F238E27FC236}">
                <a16:creationId xmlns:a16="http://schemas.microsoft.com/office/drawing/2014/main" id="{072960DD-8318-F1AE-EFC6-62FF9A9E7948}"/>
              </a:ext>
            </a:extLst>
          </p:cNvPr>
          <p:cNvSpPr>
            <a:spLocks noGrp="1"/>
          </p:cNvSpPr>
          <p:nvPr>
            <p:ph type="title"/>
          </p:nvPr>
        </p:nvSpPr>
        <p:spPr>
          <a:xfrm>
            <a:off x="839788" y="1627096"/>
            <a:ext cx="3932237" cy="1600200"/>
          </a:xfrm>
        </p:spPr>
        <p:txBody>
          <a:bodyPr anchor="b"/>
          <a:lstStyle>
            <a:lvl1pPr>
              <a:defRPr sz="3200">
                <a:solidFill>
                  <a:schemeClr val="tx1"/>
                </a:solidFill>
              </a:defRPr>
            </a:lvl1pPr>
          </a:lstStyle>
          <a:p>
            <a:r>
              <a:rPr lang="en-US"/>
              <a:t>Click to edit Master title style</a:t>
            </a:r>
          </a:p>
        </p:txBody>
      </p:sp>
      <p:sp>
        <p:nvSpPr>
          <p:cNvPr id="11" name="Text Placeholder 3">
            <a:extLst>
              <a:ext uri="{FF2B5EF4-FFF2-40B4-BE49-F238E27FC236}">
                <a16:creationId xmlns:a16="http://schemas.microsoft.com/office/drawing/2014/main" id="{938A935E-157B-D8FD-166D-85890D9A2D3A}"/>
              </a:ext>
            </a:extLst>
          </p:cNvPr>
          <p:cNvSpPr>
            <a:spLocks noGrp="1"/>
          </p:cNvSpPr>
          <p:nvPr>
            <p:ph type="body" sz="half" idx="2"/>
          </p:nvPr>
        </p:nvSpPr>
        <p:spPr>
          <a:xfrm>
            <a:off x="839788" y="3375214"/>
            <a:ext cx="3932237" cy="2581835"/>
          </a:xfrm>
        </p:spPr>
        <p:txBody>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TextBox 2">
            <a:extLst>
              <a:ext uri="{FF2B5EF4-FFF2-40B4-BE49-F238E27FC236}">
                <a16:creationId xmlns:a16="http://schemas.microsoft.com/office/drawing/2014/main" id="{AC88FAED-3665-33FB-1A16-5DCDF3932D1E}"/>
              </a:ext>
            </a:extLst>
          </p:cNvPr>
          <p:cNvSpPr txBox="1"/>
          <p:nvPr userDrawn="1"/>
        </p:nvSpPr>
        <p:spPr>
          <a:xfrm>
            <a:off x="9655401" y="6292766"/>
            <a:ext cx="2321252" cy="276999"/>
          </a:xfrm>
          <a:prstGeom prst="rect">
            <a:avLst/>
          </a:prstGeom>
          <a:noFill/>
        </p:spPr>
        <p:txBody>
          <a:bodyPr wrap="square" rtlCol="0">
            <a:spAutoFit/>
          </a:bodyPr>
          <a:lstStyle/>
          <a:p>
            <a:pPr algn="r"/>
            <a:r>
              <a:rPr lang="en-US" sz="1200" b="0" i="0">
                <a:solidFill>
                  <a:schemeClr val="tx1">
                    <a:lumMod val="65000"/>
                    <a:lumOff val="35000"/>
                  </a:schemeClr>
                </a:solidFill>
                <a:latin typeface="Poppins Medium" pitchFamily="2" charset="77"/>
                <a:cs typeface="Poppins Medium" pitchFamily="2" charset="77"/>
              </a:rPr>
              <a:t>ASHG</a:t>
            </a:r>
            <a:r>
              <a:rPr lang="en-US" sz="1200" b="0">
                <a:solidFill>
                  <a:schemeClr val="tx1">
                    <a:lumMod val="65000"/>
                    <a:lumOff val="35000"/>
                  </a:schemeClr>
                </a:solidFill>
                <a:latin typeface="Poppins" pitchFamily="2" charset="77"/>
                <a:cs typeface="Poppins" pitchFamily="2" charset="77"/>
              </a:rPr>
              <a:t> Annual Meeting 2026</a:t>
            </a:r>
          </a:p>
        </p:txBody>
      </p:sp>
    </p:spTree>
    <p:extLst>
      <p:ext uri="{BB962C8B-B14F-4D97-AF65-F5344CB8AC3E}">
        <p14:creationId xmlns:p14="http://schemas.microsoft.com/office/powerpoint/2010/main" val="2688779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CD8A1-9F14-16C9-AF53-035F87B96130}"/>
              </a:ext>
            </a:extLst>
          </p:cNvPr>
          <p:cNvSpPr>
            <a:spLocks noGrp="1"/>
          </p:cNvSpPr>
          <p:nvPr>
            <p:ph type="title" hasCustomPrompt="1"/>
          </p:nvPr>
        </p:nvSpPr>
        <p:spPr>
          <a:xfrm>
            <a:off x="1117600" y="914081"/>
            <a:ext cx="6548120" cy="752475"/>
          </a:xfrm>
        </p:spPr>
        <p:txBody>
          <a:bodyPr/>
          <a:lstStyle>
            <a:lvl1pPr>
              <a:defRPr>
                <a:solidFill>
                  <a:schemeClr val="tx1"/>
                </a:solidFill>
              </a:defRPr>
            </a:lvl1pPr>
          </a:lstStyle>
          <a:p>
            <a:r>
              <a:rPr lang="en-US"/>
              <a:t>Thank You!</a:t>
            </a:r>
          </a:p>
        </p:txBody>
      </p:sp>
      <p:sp>
        <p:nvSpPr>
          <p:cNvPr id="5" name="Text Placeholder 4">
            <a:extLst>
              <a:ext uri="{FF2B5EF4-FFF2-40B4-BE49-F238E27FC236}">
                <a16:creationId xmlns:a16="http://schemas.microsoft.com/office/drawing/2014/main" id="{87928F84-C6DB-9856-FDCE-DDC84BE0A39F}"/>
              </a:ext>
            </a:extLst>
          </p:cNvPr>
          <p:cNvSpPr>
            <a:spLocks noGrp="1"/>
          </p:cNvSpPr>
          <p:nvPr>
            <p:ph type="body" sz="quarter" idx="10" hasCustomPrompt="1"/>
          </p:nvPr>
        </p:nvSpPr>
        <p:spPr>
          <a:xfrm>
            <a:off x="1117600" y="2649140"/>
            <a:ext cx="6548438" cy="447675"/>
          </a:xfrm>
        </p:spPr>
        <p:txBody>
          <a:bodyPr/>
          <a:lstStyle/>
          <a:p>
            <a:pPr lvl="0"/>
            <a:r>
              <a:rPr lang="en-US"/>
              <a:t>Presenter Name</a:t>
            </a:r>
          </a:p>
        </p:txBody>
      </p:sp>
      <p:sp>
        <p:nvSpPr>
          <p:cNvPr id="6" name="TextBox 5">
            <a:extLst>
              <a:ext uri="{FF2B5EF4-FFF2-40B4-BE49-F238E27FC236}">
                <a16:creationId xmlns:a16="http://schemas.microsoft.com/office/drawing/2014/main" id="{33A01B90-154C-C2C1-BB5B-C96F52089AA7}"/>
              </a:ext>
            </a:extLst>
          </p:cNvPr>
          <p:cNvSpPr txBox="1"/>
          <p:nvPr userDrawn="1"/>
        </p:nvSpPr>
        <p:spPr>
          <a:xfrm>
            <a:off x="1117600" y="2201784"/>
            <a:ext cx="4460240" cy="369332"/>
          </a:xfrm>
          <a:prstGeom prst="rect">
            <a:avLst/>
          </a:prstGeom>
          <a:noFill/>
        </p:spPr>
        <p:txBody>
          <a:bodyPr wrap="square" rtlCol="0">
            <a:spAutoFit/>
          </a:bodyPr>
          <a:lstStyle/>
          <a:p>
            <a:r>
              <a:rPr lang="en-US" b="1" i="0">
                <a:solidFill>
                  <a:schemeClr val="accent5"/>
                </a:solidFill>
                <a:latin typeface="Poppins SemiBold" pitchFamily="2" charset="77"/>
                <a:cs typeface="Poppins SemiBold" pitchFamily="2" charset="77"/>
              </a:rPr>
              <a:t>CONTACT INFO</a:t>
            </a:r>
          </a:p>
        </p:txBody>
      </p:sp>
      <p:sp>
        <p:nvSpPr>
          <p:cNvPr id="7" name="Text Placeholder 4">
            <a:extLst>
              <a:ext uri="{FF2B5EF4-FFF2-40B4-BE49-F238E27FC236}">
                <a16:creationId xmlns:a16="http://schemas.microsoft.com/office/drawing/2014/main" id="{6504BED3-9E9D-3176-DB88-7B7C3E812A59}"/>
              </a:ext>
            </a:extLst>
          </p:cNvPr>
          <p:cNvSpPr>
            <a:spLocks noGrp="1"/>
          </p:cNvSpPr>
          <p:nvPr>
            <p:ph type="body" sz="quarter" idx="11" hasCustomPrompt="1"/>
          </p:nvPr>
        </p:nvSpPr>
        <p:spPr>
          <a:xfrm>
            <a:off x="1117600" y="3383597"/>
            <a:ext cx="6548438" cy="335596"/>
          </a:xfrm>
        </p:spPr>
        <p:txBody>
          <a:bodyPr/>
          <a:lstStyle>
            <a:lvl1pPr>
              <a:defRPr sz="2000">
                <a:solidFill>
                  <a:schemeClr val="tx1"/>
                </a:solidFill>
              </a:defRPr>
            </a:lvl1pPr>
          </a:lstStyle>
          <a:p>
            <a:pPr lvl="0"/>
            <a:r>
              <a:rPr lang="en-US"/>
              <a:t>Email address</a:t>
            </a:r>
          </a:p>
        </p:txBody>
      </p:sp>
      <p:sp>
        <p:nvSpPr>
          <p:cNvPr id="8" name="Text Placeholder 4">
            <a:extLst>
              <a:ext uri="{FF2B5EF4-FFF2-40B4-BE49-F238E27FC236}">
                <a16:creationId xmlns:a16="http://schemas.microsoft.com/office/drawing/2014/main" id="{32B850C0-7660-1A94-7958-25B0BF31187D}"/>
              </a:ext>
            </a:extLst>
          </p:cNvPr>
          <p:cNvSpPr>
            <a:spLocks noGrp="1"/>
          </p:cNvSpPr>
          <p:nvPr>
            <p:ph type="body" sz="quarter" idx="12" hasCustomPrompt="1"/>
          </p:nvPr>
        </p:nvSpPr>
        <p:spPr>
          <a:xfrm>
            <a:off x="1450977" y="3743005"/>
            <a:ext cx="6215062" cy="335596"/>
          </a:xfrm>
        </p:spPr>
        <p:txBody>
          <a:bodyPr anchor="ctr" anchorCtr="0"/>
          <a:lstStyle>
            <a:lvl1pPr>
              <a:defRPr sz="2000">
                <a:solidFill>
                  <a:schemeClr val="tx1"/>
                </a:solidFill>
              </a:defRPr>
            </a:lvl1pPr>
          </a:lstStyle>
          <a:p>
            <a:pPr lvl="0"/>
            <a:r>
              <a:rPr lang="en-US"/>
              <a:t>@your-</a:t>
            </a:r>
            <a:r>
              <a:rPr lang="en-US" err="1"/>
              <a:t>linkedin</a:t>
            </a:r>
            <a:r>
              <a:rPr lang="en-US"/>
              <a:t>-handle</a:t>
            </a:r>
          </a:p>
        </p:txBody>
      </p:sp>
      <p:sp>
        <p:nvSpPr>
          <p:cNvPr id="11" name="Text Placeholder 4">
            <a:extLst>
              <a:ext uri="{FF2B5EF4-FFF2-40B4-BE49-F238E27FC236}">
                <a16:creationId xmlns:a16="http://schemas.microsoft.com/office/drawing/2014/main" id="{3F1454AA-860D-1387-8EE1-3D6220FB9986}"/>
              </a:ext>
            </a:extLst>
          </p:cNvPr>
          <p:cNvSpPr>
            <a:spLocks noGrp="1"/>
          </p:cNvSpPr>
          <p:nvPr>
            <p:ph type="body" sz="quarter" idx="13" hasCustomPrompt="1"/>
          </p:nvPr>
        </p:nvSpPr>
        <p:spPr>
          <a:xfrm>
            <a:off x="1117600" y="4419917"/>
            <a:ext cx="6548438" cy="335596"/>
          </a:xfrm>
        </p:spPr>
        <p:txBody>
          <a:bodyPr/>
          <a:lstStyle>
            <a:lvl1pPr>
              <a:defRPr sz="2000">
                <a:solidFill>
                  <a:schemeClr val="accent2"/>
                </a:solidFill>
              </a:defRPr>
            </a:lvl1pPr>
          </a:lstStyle>
          <a:p>
            <a:pPr lvl="0"/>
            <a:r>
              <a:rPr lang="en-US"/>
              <a:t>Website URL</a:t>
            </a:r>
          </a:p>
        </p:txBody>
      </p:sp>
      <p:sp>
        <p:nvSpPr>
          <p:cNvPr id="12" name="Text Placeholder 4">
            <a:extLst>
              <a:ext uri="{FF2B5EF4-FFF2-40B4-BE49-F238E27FC236}">
                <a16:creationId xmlns:a16="http://schemas.microsoft.com/office/drawing/2014/main" id="{C792CBAE-74AA-10AC-CD27-07FC18904F8B}"/>
              </a:ext>
            </a:extLst>
          </p:cNvPr>
          <p:cNvSpPr>
            <a:spLocks noGrp="1"/>
          </p:cNvSpPr>
          <p:nvPr>
            <p:ph type="body" sz="quarter" idx="14" hasCustomPrompt="1"/>
          </p:nvPr>
        </p:nvSpPr>
        <p:spPr>
          <a:xfrm>
            <a:off x="1117600" y="4775517"/>
            <a:ext cx="6548438" cy="335596"/>
          </a:xfrm>
        </p:spPr>
        <p:txBody>
          <a:bodyPr/>
          <a:lstStyle>
            <a:lvl1pPr>
              <a:defRPr sz="2000">
                <a:solidFill>
                  <a:schemeClr val="accent2"/>
                </a:solidFill>
              </a:defRPr>
            </a:lvl1pPr>
          </a:lstStyle>
          <a:p>
            <a:pPr lvl="0"/>
            <a:r>
              <a:rPr lang="en-US"/>
              <a:t>2nd Link (optional)</a:t>
            </a:r>
          </a:p>
        </p:txBody>
      </p:sp>
      <p:sp>
        <p:nvSpPr>
          <p:cNvPr id="13" name="Text Placeholder 4">
            <a:extLst>
              <a:ext uri="{FF2B5EF4-FFF2-40B4-BE49-F238E27FC236}">
                <a16:creationId xmlns:a16="http://schemas.microsoft.com/office/drawing/2014/main" id="{DC0607DD-0727-BE66-A517-A7A0C94F3329}"/>
              </a:ext>
            </a:extLst>
          </p:cNvPr>
          <p:cNvSpPr>
            <a:spLocks noGrp="1"/>
          </p:cNvSpPr>
          <p:nvPr>
            <p:ph type="body" sz="quarter" idx="15" hasCustomPrompt="1"/>
          </p:nvPr>
        </p:nvSpPr>
        <p:spPr>
          <a:xfrm>
            <a:off x="1117600" y="5131117"/>
            <a:ext cx="6548438" cy="335596"/>
          </a:xfrm>
        </p:spPr>
        <p:txBody>
          <a:bodyPr/>
          <a:lstStyle>
            <a:lvl1pPr>
              <a:defRPr sz="2000">
                <a:solidFill>
                  <a:schemeClr val="accent2"/>
                </a:solidFill>
              </a:defRPr>
            </a:lvl1pPr>
          </a:lstStyle>
          <a:p>
            <a:pPr lvl="0"/>
            <a:r>
              <a:rPr lang="en-US"/>
              <a:t>3rd Link (optional)</a:t>
            </a:r>
          </a:p>
        </p:txBody>
      </p:sp>
      <p:pic>
        <p:nvPicPr>
          <p:cNvPr id="19" name="Picture 18">
            <a:extLst>
              <a:ext uri="{FF2B5EF4-FFF2-40B4-BE49-F238E27FC236}">
                <a16:creationId xmlns:a16="http://schemas.microsoft.com/office/drawing/2014/main" id="{67EDBFA6-5E78-CE04-40CF-CA537C43FE91}"/>
              </a:ext>
            </a:extLst>
          </p:cNvPr>
          <p:cNvPicPr>
            <a:picLocks noChangeAspect="1"/>
          </p:cNvPicPr>
          <p:nvPr userDrawn="1"/>
        </p:nvPicPr>
        <p:blipFill>
          <a:blip r:embed="rId3"/>
          <a:stretch>
            <a:fillRect/>
          </a:stretch>
        </p:blipFill>
        <p:spPr>
          <a:xfrm>
            <a:off x="1225550" y="3761682"/>
            <a:ext cx="225426" cy="223531"/>
          </a:xfrm>
          <a:prstGeom prst="rect">
            <a:avLst/>
          </a:prstGeom>
        </p:spPr>
      </p:pic>
      <p:sp>
        <p:nvSpPr>
          <p:cNvPr id="3" name="TextBox 2">
            <a:extLst>
              <a:ext uri="{FF2B5EF4-FFF2-40B4-BE49-F238E27FC236}">
                <a16:creationId xmlns:a16="http://schemas.microsoft.com/office/drawing/2014/main" id="{C66D6F66-8B93-1745-3F56-2600A1638679}"/>
              </a:ext>
            </a:extLst>
          </p:cNvPr>
          <p:cNvSpPr txBox="1"/>
          <p:nvPr userDrawn="1"/>
        </p:nvSpPr>
        <p:spPr>
          <a:xfrm>
            <a:off x="208721" y="6470374"/>
            <a:ext cx="4244009" cy="276999"/>
          </a:xfrm>
          <a:prstGeom prst="rect">
            <a:avLst/>
          </a:prstGeom>
          <a:noFill/>
        </p:spPr>
        <p:txBody>
          <a:bodyPr wrap="square" rtlCol="0">
            <a:spAutoFit/>
          </a:bodyPr>
          <a:lstStyle/>
          <a:p>
            <a:r>
              <a:rPr lang="en-US" sz="1200" b="0" i="0">
                <a:solidFill>
                  <a:schemeClr val="bg1"/>
                </a:solidFill>
                <a:latin typeface="Poppins Medium" pitchFamily="2" charset="77"/>
                <a:cs typeface="Poppins Medium" pitchFamily="2" charset="77"/>
              </a:rPr>
              <a:t>ASHG</a:t>
            </a:r>
            <a:r>
              <a:rPr lang="en-US" sz="1200" b="0">
                <a:solidFill>
                  <a:schemeClr val="bg1"/>
                </a:solidFill>
                <a:latin typeface="Poppins" pitchFamily="2" charset="77"/>
                <a:cs typeface="Poppins" pitchFamily="2" charset="77"/>
              </a:rPr>
              <a:t> Annual Meeting 2026</a:t>
            </a:r>
          </a:p>
        </p:txBody>
      </p:sp>
    </p:spTree>
    <p:extLst>
      <p:ext uri="{BB962C8B-B14F-4D97-AF65-F5344CB8AC3E}">
        <p14:creationId xmlns:p14="http://schemas.microsoft.com/office/powerpoint/2010/main" val="89780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lt 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CD8A1-9F14-16C9-AF53-035F87B96130}"/>
              </a:ext>
            </a:extLst>
          </p:cNvPr>
          <p:cNvSpPr>
            <a:spLocks noGrp="1"/>
          </p:cNvSpPr>
          <p:nvPr>
            <p:ph type="title" hasCustomPrompt="1"/>
          </p:nvPr>
        </p:nvSpPr>
        <p:spPr>
          <a:xfrm>
            <a:off x="4809924" y="1573839"/>
            <a:ext cx="6548120" cy="752475"/>
          </a:xfrm>
        </p:spPr>
        <p:txBody>
          <a:bodyPr/>
          <a:lstStyle>
            <a:lvl1pPr>
              <a:defRPr>
                <a:solidFill>
                  <a:schemeClr val="tx1"/>
                </a:solidFill>
              </a:defRPr>
            </a:lvl1pPr>
          </a:lstStyle>
          <a:p>
            <a:r>
              <a:rPr lang="en-US"/>
              <a:t>Thank You!</a:t>
            </a:r>
          </a:p>
        </p:txBody>
      </p:sp>
      <p:sp>
        <p:nvSpPr>
          <p:cNvPr id="5" name="Text Placeholder 4">
            <a:extLst>
              <a:ext uri="{FF2B5EF4-FFF2-40B4-BE49-F238E27FC236}">
                <a16:creationId xmlns:a16="http://schemas.microsoft.com/office/drawing/2014/main" id="{87928F84-C6DB-9856-FDCE-DDC84BE0A39F}"/>
              </a:ext>
            </a:extLst>
          </p:cNvPr>
          <p:cNvSpPr>
            <a:spLocks noGrp="1"/>
          </p:cNvSpPr>
          <p:nvPr>
            <p:ph type="body" sz="quarter" idx="10" hasCustomPrompt="1"/>
          </p:nvPr>
        </p:nvSpPr>
        <p:spPr>
          <a:xfrm>
            <a:off x="4809924" y="3158427"/>
            <a:ext cx="6548438" cy="447675"/>
          </a:xfrm>
        </p:spPr>
        <p:txBody>
          <a:bodyPr/>
          <a:lstStyle/>
          <a:p>
            <a:pPr lvl="0"/>
            <a:r>
              <a:rPr lang="en-US"/>
              <a:t>Presenter Name</a:t>
            </a:r>
          </a:p>
        </p:txBody>
      </p:sp>
      <p:sp>
        <p:nvSpPr>
          <p:cNvPr id="6" name="TextBox 5">
            <a:extLst>
              <a:ext uri="{FF2B5EF4-FFF2-40B4-BE49-F238E27FC236}">
                <a16:creationId xmlns:a16="http://schemas.microsoft.com/office/drawing/2014/main" id="{33A01B90-154C-C2C1-BB5B-C96F52089AA7}"/>
              </a:ext>
            </a:extLst>
          </p:cNvPr>
          <p:cNvSpPr txBox="1"/>
          <p:nvPr userDrawn="1"/>
        </p:nvSpPr>
        <p:spPr>
          <a:xfrm>
            <a:off x="4809924" y="2711071"/>
            <a:ext cx="4460240" cy="369332"/>
          </a:xfrm>
          <a:prstGeom prst="rect">
            <a:avLst/>
          </a:prstGeom>
          <a:noFill/>
        </p:spPr>
        <p:txBody>
          <a:bodyPr wrap="square" rtlCol="0">
            <a:spAutoFit/>
          </a:bodyPr>
          <a:lstStyle/>
          <a:p>
            <a:r>
              <a:rPr lang="en-US" b="1" i="0">
                <a:solidFill>
                  <a:schemeClr val="accent4"/>
                </a:solidFill>
                <a:latin typeface="Poppins SemiBold" pitchFamily="2" charset="77"/>
                <a:cs typeface="Poppins SemiBold" pitchFamily="2" charset="77"/>
              </a:rPr>
              <a:t>CONTACT INFO</a:t>
            </a:r>
          </a:p>
        </p:txBody>
      </p:sp>
      <p:sp>
        <p:nvSpPr>
          <p:cNvPr id="7" name="Text Placeholder 4">
            <a:extLst>
              <a:ext uri="{FF2B5EF4-FFF2-40B4-BE49-F238E27FC236}">
                <a16:creationId xmlns:a16="http://schemas.microsoft.com/office/drawing/2014/main" id="{6504BED3-9E9D-3176-DB88-7B7C3E812A59}"/>
              </a:ext>
            </a:extLst>
          </p:cNvPr>
          <p:cNvSpPr>
            <a:spLocks noGrp="1"/>
          </p:cNvSpPr>
          <p:nvPr>
            <p:ph type="body" sz="quarter" idx="11" hasCustomPrompt="1"/>
          </p:nvPr>
        </p:nvSpPr>
        <p:spPr>
          <a:xfrm>
            <a:off x="4809924" y="3892884"/>
            <a:ext cx="6548438" cy="335596"/>
          </a:xfrm>
        </p:spPr>
        <p:txBody>
          <a:bodyPr/>
          <a:lstStyle>
            <a:lvl1pPr>
              <a:defRPr sz="2000">
                <a:solidFill>
                  <a:schemeClr val="tx1"/>
                </a:solidFill>
              </a:defRPr>
            </a:lvl1pPr>
          </a:lstStyle>
          <a:p>
            <a:pPr lvl="0"/>
            <a:r>
              <a:rPr lang="en-US"/>
              <a:t>Email address</a:t>
            </a:r>
          </a:p>
        </p:txBody>
      </p:sp>
      <p:sp>
        <p:nvSpPr>
          <p:cNvPr id="8" name="Text Placeholder 4">
            <a:extLst>
              <a:ext uri="{FF2B5EF4-FFF2-40B4-BE49-F238E27FC236}">
                <a16:creationId xmlns:a16="http://schemas.microsoft.com/office/drawing/2014/main" id="{32B850C0-7660-1A94-7958-25B0BF31187D}"/>
              </a:ext>
            </a:extLst>
          </p:cNvPr>
          <p:cNvSpPr>
            <a:spLocks noGrp="1"/>
          </p:cNvSpPr>
          <p:nvPr>
            <p:ph type="body" sz="quarter" idx="12" hasCustomPrompt="1"/>
          </p:nvPr>
        </p:nvSpPr>
        <p:spPr>
          <a:xfrm>
            <a:off x="5143301" y="4252292"/>
            <a:ext cx="6215062" cy="335596"/>
          </a:xfrm>
        </p:spPr>
        <p:txBody>
          <a:bodyPr anchor="ctr" anchorCtr="0"/>
          <a:lstStyle>
            <a:lvl1pPr>
              <a:defRPr sz="2000">
                <a:solidFill>
                  <a:schemeClr val="tx1"/>
                </a:solidFill>
              </a:defRPr>
            </a:lvl1pPr>
          </a:lstStyle>
          <a:p>
            <a:pPr lvl="0"/>
            <a:r>
              <a:rPr lang="en-US"/>
              <a:t>@your-</a:t>
            </a:r>
            <a:r>
              <a:rPr lang="en-US" err="1"/>
              <a:t>linkedin</a:t>
            </a:r>
            <a:r>
              <a:rPr lang="en-US"/>
              <a:t>-handle</a:t>
            </a:r>
          </a:p>
        </p:txBody>
      </p:sp>
      <p:sp>
        <p:nvSpPr>
          <p:cNvPr id="11" name="Text Placeholder 4">
            <a:extLst>
              <a:ext uri="{FF2B5EF4-FFF2-40B4-BE49-F238E27FC236}">
                <a16:creationId xmlns:a16="http://schemas.microsoft.com/office/drawing/2014/main" id="{3F1454AA-860D-1387-8EE1-3D6220FB9986}"/>
              </a:ext>
            </a:extLst>
          </p:cNvPr>
          <p:cNvSpPr>
            <a:spLocks noGrp="1"/>
          </p:cNvSpPr>
          <p:nvPr>
            <p:ph type="body" sz="quarter" idx="13" hasCustomPrompt="1"/>
          </p:nvPr>
        </p:nvSpPr>
        <p:spPr>
          <a:xfrm>
            <a:off x="4809924" y="4929204"/>
            <a:ext cx="6548438" cy="335596"/>
          </a:xfrm>
        </p:spPr>
        <p:txBody>
          <a:bodyPr/>
          <a:lstStyle>
            <a:lvl1pPr>
              <a:defRPr sz="2000">
                <a:solidFill>
                  <a:schemeClr val="accent2"/>
                </a:solidFill>
              </a:defRPr>
            </a:lvl1pPr>
          </a:lstStyle>
          <a:p>
            <a:pPr lvl="0"/>
            <a:r>
              <a:rPr lang="en-US"/>
              <a:t>Website URL</a:t>
            </a:r>
          </a:p>
        </p:txBody>
      </p:sp>
      <p:sp>
        <p:nvSpPr>
          <p:cNvPr id="12" name="Text Placeholder 4">
            <a:extLst>
              <a:ext uri="{FF2B5EF4-FFF2-40B4-BE49-F238E27FC236}">
                <a16:creationId xmlns:a16="http://schemas.microsoft.com/office/drawing/2014/main" id="{C792CBAE-74AA-10AC-CD27-07FC18904F8B}"/>
              </a:ext>
            </a:extLst>
          </p:cNvPr>
          <p:cNvSpPr>
            <a:spLocks noGrp="1"/>
          </p:cNvSpPr>
          <p:nvPr>
            <p:ph type="body" sz="quarter" idx="14" hasCustomPrompt="1"/>
          </p:nvPr>
        </p:nvSpPr>
        <p:spPr>
          <a:xfrm>
            <a:off x="4809924" y="5284804"/>
            <a:ext cx="6548438" cy="335596"/>
          </a:xfrm>
        </p:spPr>
        <p:txBody>
          <a:bodyPr/>
          <a:lstStyle>
            <a:lvl1pPr>
              <a:defRPr sz="2000">
                <a:solidFill>
                  <a:schemeClr val="accent2"/>
                </a:solidFill>
              </a:defRPr>
            </a:lvl1pPr>
          </a:lstStyle>
          <a:p>
            <a:pPr lvl="0"/>
            <a:r>
              <a:rPr lang="en-US"/>
              <a:t>2nd Link (optional)</a:t>
            </a:r>
          </a:p>
        </p:txBody>
      </p:sp>
      <p:sp>
        <p:nvSpPr>
          <p:cNvPr id="13" name="Text Placeholder 4">
            <a:extLst>
              <a:ext uri="{FF2B5EF4-FFF2-40B4-BE49-F238E27FC236}">
                <a16:creationId xmlns:a16="http://schemas.microsoft.com/office/drawing/2014/main" id="{DC0607DD-0727-BE66-A517-A7A0C94F3329}"/>
              </a:ext>
            </a:extLst>
          </p:cNvPr>
          <p:cNvSpPr>
            <a:spLocks noGrp="1"/>
          </p:cNvSpPr>
          <p:nvPr>
            <p:ph type="body" sz="quarter" idx="15" hasCustomPrompt="1"/>
          </p:nvPr>
        </p:nvSpPr>
        <p:spPr>
          <a:xfrm>
            <a:off x="4809924" y="5640404"/>
            <a:ext cx="6548438" cy="335596"/>
          </a:xfrm>
        </p:spPr>
        <p:txBody>
          <a:bodyPr/>
          <a:lstStyle>
            <a:lvl1pPr>
              <a:defRPr sz="2000">
                <a:solidFill>
                  <a:schemeClr val="accent2"/>
                </a:solidFill>
              </a:defRPr>
            </a:lvl1pPr>
          </a:lstStyle>
          <a:p>
            <a:pPr lvl="0"/>
            <a:r>
              <a:rPr lang="en-US"/>
              <a:t>3rd Link (optional)</a:t>
            </a:r>
          </a:p>
        </p:txBody>
      </p:sp>
      <p:pic>
        <p:nvPicPr>
          <p:cNvPr id="19" name="Picture 18">
            <a:extLst>
              <a:ext uri="{FF2B5EF4-FFF2-40B4-BE49-F238E27FC236}">
                <a16:creationId xmlns:a16="http://schemas.microsoft.com/office/drawing/2014/main" id="{67EDBFA6-5E78-CE04-40CF-CA537C43FE91}"/>
              </a:ext>
            </a:extLst>
          </p:cNvPr>
          <p:cNvPicPr>
            <a:picLocks noChangeAspect="1"/>
          </p:cNvPicPr>
          <p:nvPr userDrawn="1"/>
        </p:nvPicPr>
        <p:blipFill>
          <a:blip r:embed="rId3"/>
          <a:stretch>
            <a:fillRect/>
          </a:stretch>
        </p:blipFill>
        <p:spPr>
          <a:xfrm>
            <a:off x="4917874" y="4270969"/>
            <a:ext cx="225426" cy="223531"/>
          </a:xfrm>
          <a:prstGeom prst="rect">
            <a:avLst/>
          </a:prstGeom>
        </p:spPr>
      </p:pic>
    </p:spTree>
    <p:extLst>
      <p:ext uri="{BB962C8B-B14F-4D97-AF65-F5344CB8AC3E}">
        <p14:creationId xmlns:p14="http://schemas.microsoft.com/office/powerpoint/2010/main" val="28665276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447249-CB1B-7D5F-FE83-2DDE8DA9F4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CDDCCD-0CD1-5220-7DD1-F5F7F5611D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0809195"/>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6" r:id="rId4"/>
    <p:sldLayoutId id="2147483664" r:id="rId5"/>
    <p:sldLayoutId id="2147483665" r:id="rId6"/>
    <p:sldLayoutId id="2147483650" r:id="rId7"/>
    <p:sldLayoutId id="2147483651" r:id="rId8"/>
    <p:sldLayoutId id="2147483653" r:id="rId9"/>
    <p:sldLayoutId id="2147483669" r:id="rId10"/>
    <p:sldLayoutId id="2147483670" r:id="rId11"/>
    <p:sldLayoutId id="2147483668" r:id="rId12"/>
    <p:sldLayoutId id="2147483655" r:id="rId13"/>
    <p:sldLayoutId id="2147483657" r:id="rId14"/>
    <p:sldLayoutId id="2147483667" r:id="rId15"/>
    <p:sldLayoutId id="2147483671" r:id="rId16"/>
    <p:sldLayoutId id="2147483672" r:id="rId17"/>
  </p:sldLayoutIdLst>
  <p:txStyles>
    <p:titleStyle>
      <a:lvl1pPr algn="l" defTabSz="914400" rtl="0" eaLnBrk="1" latinLnBrk="0" hangingPunct="1">
        <a:lnSpc>
          <a:spcPct val="90000"/>
        </a:lnSpc>
        <a:spcBef>
          <a:spcPct val="0"/>
        </a:spcBef>
        <a:buNone/>
        <a:defRPr sz="4400" kern="1200">
          <a:solidFill>
            <a:schemeClr val="accent1"/>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 typeface="System Font Regular"/>
        <a:buNone/>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4" Type="http://schemas.openxmlformats.org/officeDocument/2006/relationships/hyperlink" Target="https://heart-gen.github.io/modeling-choices-omics-ashg2026/" TargetMode="External"/><Relationship Id="rId5"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tiff"/><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tiff"/><Relationship Id="rId3" Type="http://schemas.openxmlformats.org/officeDocument/2006/relationships/image" Target="../media/image23.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 Id="rId3" Type="http://schemas.openxmlformats.org/officeDocument/2006/relationships/hyperlink" Target="https://www.sciencedirect.com/journal/the-american-journal-of-human-genetics/vol/112/issue/1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tif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5.jpg"/><Relationship Id="rId3" Type="http://schemas.openxmlformats.org/officeDocument/2006/relationships/image" Target="../media/image3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2.png"/><Relationship Id="rId3" Type="http://schemas.openxmlformats.org/officeDocument/2006/relationships/hyperlink" Target="https://www.nature.com/n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pytorch.org" TargetMode="External"/><Relationship Id="rId4" Type="http://schemas.openxmlformats.org/officeDocument/2006/relationships/hyperlink" Target="https://docs.jax.dev" TargetMode="External"/><Relationship Id="rId5" Type="http://schemas.openxmlformats.org/officeDocument/2006/relationships/hyperlink" Target="https://rapids.ai" TargetMode="External"/><Relationship Id="rId6" Type="http://schemas.openxmlformats.org/officeDocument/2006/relationships/hyperlink" Target="https://numba.pydata.org" TargetMode="External"/><Relationship Id="rId7" Type="http://schemas.openxmlformats.org/officeDocument/2006/relationships/hyperlink" Target="https://www.dask.or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www.cog-genomics.org/plink/2.0/" TargetMode="External"/><Relationship Id="rId4" Type="http://schemas.openxmlformats.org/officeDocument/2006/relationships/hyperlink" Target="https://rgcgithub.github.io/regenie/" TargetMode="External"/><Relationship Id="rId5" Type="http://schemas.openxmlformats.org/officeDocument/2006/relationships/hyperlink" Target="https://hail.is" TargetMode="External"/><Relationship Id="rId6" Type="http://schemas.openxmlformats.org/officeDocument/2006/relationships/hyperlink" Target="https://github.com/broadinstitute/tensorqtl" TargetMode="External"/><Relationship Id="rId7" Type="http://schemas.openxmlformats.org/officeDocument/2006/relationships/hyperlink" Target="https://docs.nvidia.com/clara/parabricks/latest/" TargetMode="External"/><Relationship Id="rId8" Type="http://schemas.openxmlformats.org/officeDocument/2006/relationships/hyperlink" Target="https://allocations.access-ci.or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name="templat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55891-817A-E308-EB7E-76E7E5659BAC}"/>
              </a:ext>
            </a:extLst>
          </p:cNvPr>
          <p:cNvSpPr>
            <a:spLocks noGrp="1"/>
          </p:cNvSpPr>
          <p:nvPr>
            <p:ph type="ctrTitle"/>
          </p:nvPr>
        </p:nvSpPr>
        <p:spPr>
          <a:xfrm>
            <a:off x="576072" y="2377440"/>
            <a:ext cx="10789920" cy="1280160"/>
          </a:xfrm>
        </p:spPr>
        <p:txBody>
          <a:bodyPr/>
          <a:lstStyle/>
          <a:p>
            <a:r>
              <a:t>Modeling Choices in Omics</a:t>
            </a:r>
          </a:p>
        </p:txBody>
      </p:sp>
      <p:sp>
        <p:nvSpPr>
          <p:cNvPr id="3" name="Subtitle 2">
            <a:extLst>
              <a:ext uri="{FF2B5EF4-FFF2-40B4-BE49-F238E27FC236}">
                <a16:creationId xmlns:a16="http://schemas.microsoft.com/office/drawing/2014/main" id="{B90DCC00-8CFF-0D79-902F-CF7CECA67237}"/>
              </a:ext>
            </a:extLst>
          </p:cNvPr>
          <p:cNvSpPr>
            <a:spLocks noGrp="1"/>
          </p:cNvSpPr>
          <p:nvPr>
            <p:ph type="subTitle" idx="1"/>
          </p:nvPr>
        </p:nvSpPr>
        <p:spPr>
          <a:xfrm>
            <a:off x="576072" y="3840480"/>
            <a:ext cx="10789920" cy="2377440"/>
          </a:xfrm>
        </p:spPr>
        <p:txBody>
          <a:bodyPr/>
          <a:lstStyle/>
          <a:p>
            <a:r>
              <a:rPr sz="2400" b="0">
                <a:solidFill>
                  <a:srgbClr val="FFFFFF"/>
                </a:solidFill>
              </a:rPr>
              <a:t>Implications for Health Disparities in Human Genetics</a:t>
            </a:r>
          </a:p>
          <a:p>
            <a:r>
              <a:rPr sz="2400" b="1">
                <a:solidFill>
                  <a:srgbClr val="FFFFFF"/>
                </a:solidFill>
              </a:rPr>
              <a:t>Kynon J. Benjamin, PhD · Minoli Perera, PharmD, PhD</a:t>
            </a:r>
          </a:p>
          <a:p>
            <a:r>
              <a:rPr sz="2400" b="0">
                <a:solidFill>
                  <a:srgbClr val="FFFFFF"/>
                </a:solidFill>
              </a:rPr>
              <a:t>Northwestern University Feinberg School of Medicine</a:t>
            </a:r>
          </a:p>
        </p:txBody>
      </p:sp>
    </p:spTree>
    <p:extLst>
      <p:ext uri="{BB962C8B-B14F-4D97-AF65-F5344CB8AC3E}">
        <p14:creationId xmlns:p14="http://schemas.microsoft.com/office/powerpoint/2010/main" val="1119337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emplate:disclosure">
    <p:spTree>
      <p:nvGrpSpPr>
        <p:cNvPr id="1" name="">
          <a:extLst>
            <a:ext uri="{FF2B5EF4-FFF2-40B4-BE49-F238E27FC236}">
              <a16:creationId xmlns:a16="http://schemas.microsoft.com/office/drawing/2014/main" id="{63446631-A6A0-C054-E279-10B4F11ED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CBABD-4B2C-5A59-70F0-FAB800EC97B5}"/>
              </a:ext>
            </a:extLst>
          </p:cNvPr>
          <p:cNvSpPr>
            <a:spLocks noGrp="1"/>
          </p:cNvSpPr>
          <p:nvPr>
            <p:ph type="title"/>
          </p:nvPr>
        </p:nvSpPr>
        <p:spPr/>
        <p:txBody>
          <a:bodyPr/>
          <a:lstStyle/>
          <a:p>
            <a:r>
              <a:rPr lang="en-US" dirty="0"/>
              <a:t>Financial Disclosure</a:t>
            </a:r>
          </a:p>
        </p:txBody>
      </p:sp>
      <p:sp>
        <p:nvSpPr>
          <p:cNvPr id="4" name="Content Placeholder 3">
            <a:extLst>
              <a:ext uri="{FF2B5EF4-FFF2-40B4-BE49-F238E27FC236}">
                <a16:creationId xmlns:a16="http://schemas.microsoft.com/office/drawing/2014/main" id="{ADB40B2D-9C5F-BE5A-440D-3DF019F6465C}"/>
              </a:ext>
            </a:extLst>
          </p:cNvPr>
          <p:cNvSpPr>
            <a:spLocks noGrp="1"/>
          </p:cNvSpPr>
          <p:nvPr>
            <p:ph sz="half" idx="2"/>
          </p:nvPr>
        </p:nvSpPr>
        <p:spPr>
          <a:xfrm>
            <a:off x="839788" y="1690688"/>
            <a:ext cx="10515600" cy="4472368"/>
          </a:xfrm>
        </p:spPr>
        <p:txBody>
          <a:bodyPr>
            <a:normAutofit lnSpcReduction="10000"/>
          </a:bodyPr>
          <a:lstStyle/>
          <a:p>
            <a:r>
              <a:rPr sz="3200" b="0"/>
              <a:t>We do not have any relationships to report within the last 24 months with ACCME defined ineligible companies.</a:t>
            </a:r>
          </a:p>
        </p:txBody>
      </p:sp>
    </p:spTree>
    <p:extLst>
      <p:ext uri="{BB962C8B-B14F-4D97-AF65-F5344CB8AC3E}">
        <p14:creationId xmlns:p14="http://schemas.microsoft.com/office/powerpoint/2010/main" val="2819878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emplate:unlabeled">
    <p:spTree>
      <p:nvGrpSpPr>
        <p:cNvPr id="1" name="">
          <a:extLst>
            <a:ext uri="{FF2B5EF4-FFF2-40B4-BE49-F238E27FC236}">
              <a16:creationId xmlns:a16="http://schemas.microsoft.com/office/drawing/2014/main" id="{587B4EE1-C64C-F433-5130-A0899D9DE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35732-4136-CB82-3E84-ED3D189264BB}"/>
              </a:ext>
            </a:extLst>
          </p:cNvPr>
          <p:cNvSpPr>
            <a:spLocks noGrp="1"/>
          </p:cNvSpPr>
          <p:nvPr>
            <p:ph type="title"/>
          </p:nvPr>
        </p:nvSpPr>
        <p:spPr/>
        <p:txBody>
          <a:bodyPr/>
          <a:lstStyle/>
          <a:p>
            <a:r>
              <a:rPr lang="en-US" dirty="0"/>
              <a:t>Unlabeled/Investigational Uses</a:t>
            </a:r>
          </a:p>
        </p:txBody>
      </p:sp>
      <p:sp>
        <p:nvSpPr>
          <p:cNvPr id="4" name="Content Placeholder 3">
            <a:extLst>
              <a:ext uri="{FF2B5EF4-FFF2-40B4-BE49-F238E27FC236}">
                <a16:creationId xmlns:a16="http://schemas.microsoft.com/office/drawing/2014/main" id="{E147E7DA-A608-F7DD-7721-95A8DEF5EE19}"/>
              </a:ext>
            </a:extLst>
          </p:cNvPr>
          <p:cNvSpPr>
            <a:spLocks noGrp="1"/>
          </p:cNvSpPr>
          <p:nvPr>
            <p:ph sz="half" idx="2"/>
          </p:nvPr>
        </p:nvSpPr>
        <p:spPr>
          <a:xfrm>
            <a:off x="839788" y="1690688"/>
            <a:ext cx="10515600" cy="4472368"/>
          </a:xfrm>
        </p:spPr>
        <p:txBody>
          <a:bodyPr>
            <a:normAutofit/>
          </a:bodyPr>
          <a:lstStyle/>
          <a:p>
            <a:r>
              <a:rPr sz="3200" b="0"/>
              <a:t>We will not be discussing unlabeled/investigational uses of medical devices or pharmaceuticals during this presentation.</a:t>
            </a:r>
          </a:p>
        </p:txBody>
      </p:sp>
    </p:spTree>
    <p:extLst>
      <p:ext uri="{BB962C8B-B14F-4D97-AF65-F5344CB8AC3E}">
        <p14:creationId xmlns:p14="http://schemas.microsoft.com/office/powerpoint/2010/main" val="760401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latform:join: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Join the platform</a:t>
            </a:r>
          </a:p>
        </p:txBody>
      </p:sp>
      <p:sp>
        <p:nvSpPr>
          <p:cNvPr id="3" name="TextBox 2"/>
          <p:cNvSpPr txBox="1"/>
          <p:nvPr/>
        </p:nvSpPr>
        <p:spPr>
          <a:xfrm>
            <a:off x="66598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ASHG 2026 · Modeling Choices in Omics</a:t>
            </a:r>
          </a:p>
        </p:txBody>
      </p:sp>
      <p:sp>
        <p:nvSpPr>
          <p:cNvPr id="4" name="TextBox 3"/>
          <p:cNvSpPr txBox="1"/>
          <p:nvPr/>
        </p:nvSpPr>
        <p:spPr>
          <a:xfrm>
            <a:off x="665988" y="2430780"/>
            <a:ext cx="6621780" cy="1231106"/>
          </a:xfrm>
          <a:prstGeom prst="rect">
            <a:avLst/>
          </a:prstGeom>
          <a:noFill/>
        </p:spPr>
        <p:txBody>
          <a:bodyPr wrap="square" lIns="0" tIns="0" rIns="0" bIns="0" anchor="t">
            <a:spAutoFit/>
          </a:bodyPr>
          <a:lstStyle/>
          <a:p>
            <a:pPr>
              <a:spcAft>
                <a:spcPts val="0"/>
              </a:spcAft>
            </a:pPr>
            <a:r>
              <a:rPr lang="en-US" sz="2600" b="1" dirty="0">
                <a:solidFill>
                  <a:schemeClr val="accent2"/>
                </a:solidFill>
                <a:hlinkClick r:id="rId4"/>
              </a:rPr>
              <a:t>heart-gen.github.io/</a:t>
            </a:r>
            <a:endParaRPr lang="en-US" dirty="0">
              <a:solidFill>
                <a:schemeClr val="accent2"/>
              </a:solidFill>
            </a:endParaRPr>
          </a:p>
          <a:p>
            <a:pPr>
              <a:spcAft>
                <a:spcPts val="0"/>
              </a:spcAft>
            </a:pPr>
            <a:r>
              <a:rPr lang="en-US" sz="2600" b="1" dirty="0">
                <a:solidFill>
                  <a:schemeClr val="accent2"/>
                </a:solidFill>
                <a:hlinkClick r:id="rId4"/>
              </a:rPr>
              <a:t>modeling-choices-omics-ashg2026</a:t>
            </a:r>
            <a:endParaRPr lang="en-US" dirty="0">
              <a:solidFill>
                <a:schemeClr val="accent2"/>
              </a:solidFill>
            </a:endParaRPr>
          </a:p>
        </p:txBody>
      </p:sp>
      <p:sp>
        <p:nvSpPr>
          <p:cNvPr id="5" name="TextBox 4"/>
          <p:cNvSpPr txBox="1"/>
          <p:nvPr/>
        </p:nvSpPr>
        <p:spPr>
          <a:xfrm>
            <a:off x="658368" y="3992880"/>
            <a:ext cx="10698480" cy="2021066"/>
          </a:xfrm>
          <a:prstGeom prst="rect">
            <a:avLst/>
          </a:prstGeom>
          <a:noFill/>
        </p:spPr>
        <p:txBody>
          <a:bodyPr wrap="square" lIns="0" tIns="0" rIns="0" bIns="0" anchor="t">
            <a:spAutoFit/>
          </a:bodyPr>
          <a:lstStyle/>
          <a:p>
            <a:pPr>
              <a:spcAft>
                <a:spcPts val="1400"/>
              </a:spcAft>
            </a:pPr>
            <a:r>
              <a:rPr sz="2800" b="0"/>
              <a:t>No account, no install.</a:t>
            </a:r>
          </a:p>
          <a:p>
            <a:pPr>
              <a:spcAft>
                <a:spcPts val="1400"/>
              </a:spcAft>
            </a:pPr>
            <a:r>
              <a:rPr sz="2400" b="1">
                <a:solidFill>
                  <a:schemeClr val="accent1"/>
                </a:solidFill>
              </a:rPr>
              <a:t>Opening poll</a:t>
            </a:r>
            <a:r>
              <a:rPr lang="en-US" sz="2400" b="1">
                <a:solidFill>
                  <a:schemeClr val="accent1"/>
                </a:solidFill>
              </a:rPr>
              <a:t>:</a:t>
            </a:r>
            <a:endParaRPr sz="2400" b="1">
              <a:solidFill>
                <a:schemeClr val="accent1"/>
              </a:solidFill>
              <a:cs typeface="Poppins"/>
            </a:endParaRPr>
          </a:p>
          <a:p>
            <a:pPr>
              <a:spcAft>
                <a:spcPts val="1400"/>
              </a:spcAft>
            </a:pPr>
            <a:r>
              <a:rPr sz="2800" b="1"/>
              <a:t>How does your team usually evaluate ancestry-related heterogeneity?</a:t>
            </a:r>
          </a:p>
        </p:txBody>
      </p:sp>
      <p:pic>
        <p:nvPicPr>
          <p:cNvPr id="7" name="Picture 5" descr="image.png"/>
          <p:cNvPicPr>
            <a:picLocks noChangeAspect="1"/>
          </p:cNvPicPr>
          <p:nvPr/>
        </p:nvPicPr>
        <p:blipFill>
          <a:blip r:embed="rId5"/>
          <a:stretch>
            <a:fillRect/>
          </a:stretch>
        </p:blipFill>
        <p:spPr>
          <a:xfrm>
            <a:off x="7655243" y="469583"/>
            <a:ext cx="4105275" cy="41052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latform:table: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Two-hour agenda</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Agenda</a:t>
            </a:r>
          </a:p>
        </p:txBody>
      </p:sp>
      <p:graphicFrame>
        <p:nvGraphicFramePr>
          <p:cNvPr id="4" name="Table 3"/>
          <p:cNvGraphicFramePr>
            <a:graphicFrameLocks noGrp="1"/>
          </p:cNvGraphicFramePr>
          <p:nvPr/>
        </p:nvGraphicFramePr>
        <p:xfrm>
          <a:off x="841248" y="2240280"/>
          <a:ext cx="10515600" cy="3328416"/>
        </p:xfrm>
        <a:graphic>
          <a:graphicData uri="http://schemas.openxmlformats.org/drawingml/2006/table">
            <a:tbl>
              <a:tblPr>
                <a:tableStyleId>{2D5ABB26-0587-4C30-8999-92F81FD0307C}</a:tableStyleId>
              </a:tblPr>
              <a:tblGrid>
                <a:gridCol w="7223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457200">
                <a:tc>
                  <a:txBody>
                    <a:bodyPr/>
                    <a:lstStyle/>
                    <a:p>
                      <a:r>
                        <a:rPr sz="2400" b="1">
                          <a:solidFill>
                            <a:srgbClr val="FFFFFF"/>
                          </a:solidFill>
                        </a:rPr>
                        <a:t>Segment</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solidFill>
                      <a:schemeClr val="accent1"/>
                    </a:solidFill>
                  </a:tcPr>
                </a:tc>
                <a:tc>
                  <a:txBody>
                    <a:bodyPr/>
                    <a:lstStyle/>
                    <a:p>
                      <a:r>
                        <a:rPr sz="2400" b="1">
                          <a:solidFill>
                            <a:srgbClr val="FFFFFF"/>
                          </a:solidFill>
                        </a:rPr>
                        <a:t>Time</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solidFill>
                      <a:schemeClr val="accent1"/>
                    </a:solidFill>
                  </a:tcPr>
                </a:tc>
                <a:extLst>
                  <a:ext uri="{0D108BD9-81ED-4DB2-BD59-A6C34878D82A}">
                    <a16:rowId xmlns:a16="http://schemas.microsoft.com/office/drawing/2014/main" val="10000"/>
                  </a:ext>
                </a:extLst>
              </a:tr>
              <a:tr h="457200">
                <a:tc>
                  <a:txBody>
                    <a:bodyPr/>
                    <a:lstStyle/>
                    <a:p>
                      <a:r>
                        <a:rPr sz="2400" b="1"/>
                        <a:t>Opening and live poll</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15 min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1"/>
                  </a:ext>
                </a:extLst>
              </a:tr>
              <a:tr h="457200">
                <a:tc>
                  <a:txBody>
                    <a:bodyPr/>
                    <a:lstStyle/>
                    <a:p>
                      <a:r>
                        <a:rPr sz="2400" b="1"/>
                        <a:t>Framing and prediction practice</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15 min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2"/>
                  </a:ext>
                </a:extLst>
              </a:tr>
              <a:tr h="457200">
                <a:tc>
                  <a:txBody>
                    <a:bodyPr/>
                    <a:lstStyle/>
                    <a:p>
                      <a:r>
                        <a:rPr sz="2400" b="1"/>
                        <a:t>Interactive exercises I</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30 min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3"/>
                  </a:ext>
                </a:extLst>
              </a:tr>
              <a:tr h="457200">
                <a:tc>
                  <a:txBody>
                    <a:bodyPr/>
                    <a:lstStyle/>
                    <a:p>
                      <a:r>
                        <a:rPr sz="2400" b="1"/>
                        <a:t>Interactive exercises II</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30 min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4"/>
                  </a:ext>
                </a:extLst>
              </a:tr>
              <a:tr h="457200">
                <a:tc>
                  <a:txBody>
                    <a:bodyPr/>
                    <a:lstStyle/>
                    <a:p>
                      <a:r>
                        <a:rPr sz="2400" b="1"/>
                        <a:t>Synthesis</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15 min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5"/>
                  </a:ext>
                </a:extLst>
              </a:tr>
              <a:tr h="457200">
                <a:tc>
                  <a:txBody>
                    <a:bodyPr/>
                    <a:lstStyle/>
                    <a:p>
                      <a:r>
                        <a:rPr sz="2400" b="1"/>
                        <a:t>Wrap-up and Q&amp;A</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15 min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latform:steps: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modules work</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Every module runs the same way</a:t>
            </a:r>
          </a:p>
        </p:txBody>
      </p:sp>
      <p:sp>
        <p:nvSpPr>
          <p:cNvPr id="4" name="TextBox 3"/>
          <p:cNvSpPr txBox="1"/>
          <p:nvPr/>
        </p:nvSpPr>
        <p:spPr>
          <a:xfrm>
            <a:off x="841248" y="2331720"/>
            <a:ext cx="2377440" cy="822960"/>
          </a:xfrm>
          <a:prstGeom prst="rect">
            <a:avLst/>
          </a:prstGeom>
          <a:noFill/>
        </p:spPr>
        <p:txBody>
          <a:bodyPr wrap="square" lIns="0" tIns="0" rIns="0" bIns="0" anchor="t">
            <a:spAutoFit/>
          </a:bodyPr>
          <a:lstStyle/>
          <a:p>
            <a:pPr>
              <a:spcAft>
                <a:spcPts val="0"/>
              </a:spcAft>
            </a:pPr>
            <a:r>
              <a:rPr sz="5400" b="1">
                <a:solidFill>
                  <a:schemeClr val="accent1"/>
                </a:solidFill>
              </a:rPr>
              <a:t>1</a:t>
            </a:r>
          </a:p>
        </p:txBody>
      </p:sp>
      <p:sp>
        <p:nvSpPr>
          <p:cNvPr id="5" name="TextBox 4"/>
          <p:cNvSpPr txBox="1"/>
          <p:nvPr/>
        </p:nvSpPr>
        <p:spPr>
          <a:xfrm>
            <a:off x="841248" y="3246120"/>
            <a:ext cx="2377440" cy="548640"/>
          </a:xfrm>
          <a:prstGeom prst="rect">
            <a:avLst/>
          </a:prstGeom>
          <a:noFill/>
        </p:spPr>
        <p:txBody>
          <a:bodyPr wrap="square" lIns="0" tIns="0" rIns="0" bIns="0" anchor="t">
            <a:spAutoFit/>
          </a:bodyPr>
          <a:lstStyle/>
          <a:p>
            <a:pPr>
              <a:spcAft>
                <a:spcPts val="0"/>
              </a:spcAft>
            </a:pPr>
            <a:r>
              <a:rPr sz="2800" b="1"/>
              <a:t>Commit</a:t>
            </a:r>
          </a:p>
        </p:txBody>
      </p:sp>
      <p:sp>
        <p:nvSpPr>
          <p:cNvPr id="6" name="TextBox 5"/>
          <p:cNvSpPr txBox="1"/>
          <p:nvPr/>
        </p:nvSpPr>
        <p:spPr>
          <a:xfrm>
            <a:off x="841248" y="3840480"/>
            <a:ext cx="2377440" cy="1828800"/>
          </a:xfrm>
          <a:prstGeom prst="rect">
            <a:avLst/>
          </a:prstGeom>
          <a:noFill/>
        </p:spPr>
        <p:txBody>
          <a:bodyPr wrap="square" lIns="0" tIns="0" rIns="0" bIns="0" anchor="t">
            <a:spAutoFit/>
          </a:bodyPr>
          <a:lstStyle/>
          <a:p>
            <a:pPr>
              <a:spcAft>
                <a:spcPts val="0"/>
              </a:spcAft>
            </a:pPr>
            <a:r>
              <a:rPr sz="2400" b="0"/>
              <a:t>Answer before any chart appears</a:t>
            </a:r>
          </a:p>
        </p:txBody>
      </p:sp>
      <p:sp>
        <p:nvSpPr>
          <p:cNvPr id="7" name="TextBox 6"/>
          <p:cNvSpPr txBox="1"/>
          <p:nvPr/>
        </p:nvSpPr>
        <p:spPr>
          <a:xfrm>
            <a:off x="3553968" y="2331720"/>
            <a:ext cx="2377440" cy="822960"/>
          </a:xfrm>
          <a:prstGeom prst="rect">
            <a:avLst/>
          </a:prstGeom>
          <a:noFill/>
        </p:spPr>
        <p:txBody>
          <a:bodyPr wrap="square" lIns="0" tIns="0" rIns="0" bIns="0" anchor="t">
            <a:spAutoFit/>
          </a:bodyPr>
          <a:lstStyle/>
          <a:p>
            <a:pPr>
              <a:spcAft>
                <a:spcPts val="0"/>
              </a:spcAft>
            </a:pPr>
            <a:r>
              <a:rPr sz="5400" b="1">
                <a:solidFill>
                  <a:schemeClr val="accent1"/>
                </a:solidFill>
              </a:rPr>
              <a:t>2</a:t>
            </a:r>
          </a:p>
        </p:txBody>
      </p:sp>
      <p:sp>
        <p:nvSpPr>
          <p:cNvPr id="8" name="TextBox 7"/>
          <p:cNvSpPr txBox="1"/>
          <p:nvPr/>
        </p:nvSpPr>
        <p:spPr>
          <a:xfrm>
            <a:off x="3553968" y="3246120"/>
            <a:ext cx="2377440" cy="548640"/>
          </a:xfrm>
          <a:prstGeom prst="rect">
            <a:avLst/>
          </a:prstGeom>
          <a:noFill/>
        </p:spPr>
        <p:txBody>
          <a:bodyPr wrap="square" lIns="0" tIns="0" rIns="0" bIns="0" anchor="t">
            <a:spAutoFit/>
          </a:bodyPr>
          <a:lstStyle/>
          <a:p>
            <a:pPr>
              <a:spcAft>
                <a:spcPts val="0"/>
              </a:spcAft>
            </a:pPr>
            <a:r>
              <a:rPr sz="2800" b="1"/>
              <a:t>Room split</a:t>
            </a:r>
          </a:p>
        </p:txBody>
      </p:sp>
      <p:sp>
        <p:nvSpPr>
          <p:cNvPr id="9" name="TextBox 8"/>
          <p:cNvSpPr txBox="1"/>
          <p:nvPr/>
        </p:nvSpPr>
        <p:spPr>
          <a:xfrm>
            <a:off x="3553968" y="3840480"/>
            <a:ext cx="2377440" cy="1828800"/>
          </a:xfrm>
          <a:prstGeom prst="rect">
            <a:avLst/>
          </a:prstGeom>
          <a:noFill/>
        </p:spPr>
        <p:txBody>
          <a:bodyPr wrap="square" lIns="0" tIns="0" rIns="0" bIns="0" anchor="t">
            <a:spAutoFit/>
          </a:bodyPr>
          <a:lstStyle/>
          <a:p>
            <a:pPr>
              <a:spcAft>
                <a:spcPts val="0"/>
              </a:spcAft>
            </a:pPr>
            <a:r>
              <a:rPr sz="2400" b="0"/>
              <a:t>See how the room divided</a:t>
            </a:r>
          </a:p>
        </p:txBody>
      </p:sp>
      <p:sp>
        <p:nvSpPr>
          <p:cNvPr id="10" name="TextBox 9"/>
          <p:cNvSpPr txBox="1"/>
          <p:nvPr/>
        </p:nvSpPr>
        <p:spPr>
          <a:xfrm>
            <a:off x="6266688" y="2331720"/>
            <a:ext cx="2377440" cy="822960"/>
          </a:xfrm>
          <a:prstGeom prst="rect">
            <a:avLst/>
          </a:prstGeom>
          <a:noFill/>
        </p:spPr>
        <p:txBody>
          <a:bodyPr wrap="square" lIns="0" tIns="0" rIns="0" bIns="0" anchor="t">
            <a:spAutoFit/>
          </a:bodyPr>
          <a:lstStyle/>
          <a:p>
            <a:pPr>
              <a:spcAft>
                <a:spcPts val="0"/>
              </a:spcAft>
            </a:pPr>
            <a:r>
              <a:rPr sz="5400" b="1">
                <a:solidFill>
                  <a:schemeClr val="accent1"/>
                </a:solidFill>
              </a:rPr>
              <a:t>3</a:t>
            </a:r>
          </a:p>
        </p:txBody>
      </p:sp>
      <p:sp>
        <p:nvSpPr>
          <p:cNvPr id="11" name="TextBox 10"/>
          <p:cNvSpPr txBox="1"/>
          <p:nvPr/>
        </p:nvSpPr>
        <p:spPr>
          <a:xfrm>
            <a:off x="6266688" y="3246120"/>
            <a:ext cx="2377440" cy="548640"/>
          </a:xfrm>
          <a:prstGeom prst="rect">
            <a:avLst/>
          </a:prstGeom>
          <a:noFill/>
        </p:spPr>
        <p:txBody>
          <a:bodyPr wrap="square" lIns="0" tIns="0" rIns="0" bIns="0" anchor="t">
            <a:spAutoFit/>
          </a:bodyPr>
          <a:lstStyle/>
          <a:p>
            <a:pPr>
              <a:spcAft>
                <a:spcPts val="0"/>
              </a:spcAft>
            </a:pPr>
            <a:r>
              <a:rPr sz="2800" b="1"/>
              <a:t>Explore</a:t>
            </a:r>
          </a:p>
        </p:txBody>
      </p:sp>
      <p:sp>
        <p:nvSpPr>
          <p:cNvPr id="12" name="TextBox 11"/>
          <p:cNvSpPr txBox="1"/>
          <p:nvPr/>
        </p:nvSpPr>
        <p:spPr>
          <a:xfrm>
            <a:off x="6266688" y="3840480"/>
            <a:ext cx="2377440" cy="1828800"/>
          </a:xfrm>
          <a:prstGeom prst="rect">
            <a:avLst/>
          </a:prstGeom>
          <a:noFill/>
        </p:spPr>
        <p:txBody>
          <a:bodyPr wrap="square" lIns="0" tIns="0" rIns="0" bIns="0" anchor="t">
            <a:spAutoFit/>
          </a:bodyPr>
          <a:lstStyle/>
          <a:p>
            <a:pPr>
              <a:spcAft>
                <a:spcPts val="0"/>
              </a:spcAft>
            </a:pPr>
            <a:r>
              <a:rPr sz="2400" b="0"/>
              <a:t>Move every control</a:t>
            </a:r>
          </a:p>
        </p:txBody>
      </p:sp>
      <p:sp>
        <p:nvSpPr>
          <p:cNvPr id="13" name="TextBox 12"/>
          <p:cNvSpPr txBox="1"/>
          <p:nvPr/>
        </p:nvSpPr>
        <p:spPr>
          <a:xfrm>
            <a:off x="8979408" y="2331720"/>
            <a:ext cx="2377440" cy="822960"/>
          </a:xfrm>
          <a:prstGeom prst="rect">
            <a:avLst/>
          </a:prstGeom>
          <a:noFill/>
        </p:spPr>
        <p:txBody>
          <a:bodyPr wrap="square" lIns="0" tIns="0" rIns="0" bIns="0" anchor="t">
            <a:spAutoFit/>
          </a:bodyPr>
          <a:lstStyle/>
          <a:p>
            <a:pPr>
              <a:spcAft>
                <a:spcPts val="0"/>
              </a:spcAft>
            </a:pPr>
            <a:r>
              <a:rPr sz="5400" b="1">
                <a:solidFill>
                  <a:schemeClr val="accent1"/>
                </a:solidFill>
              </a:rPr>
              <a:t>4</a:t>
            </a:r>
          </a:p>
        </p:txBody>
      </p:sp>
      <p:sp>
        <p:nvSpPr>
          <p:cNvPr id="14" name="TextBox 13"/>
          <p:cNvSpPr txBox="1"/>
          <p:nvPr/>
        </p:nvSpPr>
        <p:spPr>
          <a:xfrm>
            <a:off x="8979408" y="3246120"/>
            <a:ext cx="2377440" cy="548640"/>
          </a:xfrm>
          <a:prstGeom prst="rect">
            <a:avLst/>
          </a:prstGeom>
          <a:noFill/>
        </p:spPr>
        <p:txBody>
          <a:bodyPr wrap="square" lIns="0" tIns="0" rIns="0" bIns="0" anchor="t">
            <a:spAutoFit/>
          </a:bodyPr>
          <a:lstStyle/>
          <a:p>
            <a:pPr>
              <a:spcAft>
                <a:spcPts val="0"/>
              </a:spcAft>
            </a:pPr>
            <a:r>
              <a:rPr sz="2800" b="1"/>
              <a:t>Debrief</a:t>
            </a:r>
          </a:p>
        </p:txBody>
      </p:sp>
      <p:sp>
        <p:nvSpPr>
          <p:cNvPr id="15" name="TextBox 14"/>
          <p:cNvSpPr txBox="1"/>
          <p:nvPr/>
        </p:nvSpPr>
        <p:spPr>
          <a:xfrm>
            <a:off x="8979408" y="3840480"/>
            <a:ext cx="2377440" cy="1828800"/>
          </a:xfrm>
          <a:prstGeom prst="rect">
            <a:avLst/>
          </a:prstGeom>
          <a:noFill/>
        </p:spPr>
        <p:txBody>
          <a:bodyPr wrap="square" lIns="0" tIns="0" rIns="0" bIns="0" anchor="t">
            <a:spAutoFit/>
          </a:bodyPr>
          <a:lstStyle/>
          <a:p>
            <a:pPr>
              <a:spcAft>
                <a:spcPts val="0"/>
              </a:spcAft>
            </a:pPr>
            <a:r>
              <a:rPr sz="2400" b="0"/>
              <a:t>What makes another answer right?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latform:m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Pooled vs Stratified Analysis</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1 · Commit first</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800"/>
              </a:spcAft>
            </a:pPr>
            <a:r>
              <a:rPr sz="2400" b="1"/>
              <a:t>Raise the European-ancestry share of the pooled sample from 35% to 95%. What happens to the pooled effect estimate?</a:t>
            </a:r>
          </a:p>
          <a:p>
            <a:pPr>
              <a:spcAft>
                <a:spcPts val="800"/>
              </a:spcAft>
            </a:pPr>
            <a:r>
              <a:rPr sz="2400" b="0"/>
              <a:t>A.  It grows toward the strong European-ancestry effect</a:t>
            </a:r>
          </a:p>
          <a:p>
            <a:pPr>
              <a:spcAft>
                <a:spcPts val="800"/>
              </a:spcAft>
            </a:pPr>
            <a:r>
              <a:rPr sz="2400" b="0"/>
              <a:t>B.  It shrinks toward the weak African-ancestry effect</a:t>
            </a:r>
          </a:p>
          <a:p>
            <a:pPr>
              <a:spcAft>
                <a:spcPts val="800"/>
              </a:spcAft>
            </a:pPr>
            <a:r>
              <a:rPr sz="2400" b="0"/>
              <a:t>C.  It stays put; only the interval changes</a:t>
            </a:r>
          </a:p>
          <a:p>
            <a:pPr>
              <a:spcAft>
                <a:spcPts val="800"/>
              </a:spcAft>
            </a:pPr>
            <a:r>
              <a:rPr sz="2400" b="0"/>
              <a:t>D.  It stops being significant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latform:m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Pooled vs Stratified Analysis: the answer</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1 · Reveal</a:t>
            </a:r>
          </a:p>
        </p:txBody>
      </p:sp>
      <p:sp>
        <p:nvSpPr>
          <p:cNvPr id="4" name="TextBox 3"/>
          <p:cNvSpPr txBox="1"/>
          <p:nvPr/>
        </p:nvSpPr>
        <p:spPr>
          <a:xfrm>
            <a:off x="841248" y="2240280"/>
            <a:ext cx="10515600" cy="3977639"/>
          </a:xfrm>
          <a:prstGeom prst="rect">
            <a:avLst/>
          </a:prstGeom>
          <a:noFill/>
        </p:spPr>
        <p:txBody>
          <a:bodyPr wrap="square" lIns="0" tIns="0" rIns="0" bIns="0" anchor="ctr">
            <a:spAutoFit/>
          </a:bodyPr>
          <a:lstStyle/>
          <a:p>
            <a:pPr>
              <a:spcAft>
                <a:spcPts val="1200"/>
              </a:spcAft>
            </a:pPr>
            <a:r>
              <a:rPr sz="2800" b="1">
                <a:solidFill>
                  <a:schemeClr val="accent2"/>
                </a:solidFill>
              </a:rPr>
              <a:t>Answer</a:t>
            </a:r>
          </a:p>
          <a:p>
            <a:pPr>
              <a:spcAft>
                <a:spcPts val="1200"/>
              </a:spcAft>
            </a:pPr>
            <a:r>
              <a:rPr sz="4000" b="1">
                <a:solidFill>
                  <a:schemeClr val="accent1"/>
                </a:solidFill>
              </a:rPr>
              <a:t>It grows toward the strong European-ancestry effect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latform:m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Effect estimates at 35% European ancestry</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1 · Reveal</a:t>
            </a:r>
          </a:p>
        </p:txBody>
      </p:sp>
      <p:pic>
        <p:nvPicPr>
          <p:cNvPr id="4" name="Picture 3" descr="01-pooled-vs-stratified--effect-estimates-at-35-european-ancestry.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latform:m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Effect estimates at 95% European ancestry</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1 · Reveal</a:t>
            </a:r>
          </a:p>
        </p:txBody>
      </p:sp>
      <p:pic>
        <p:nvPicPr>
          <p:cNvPr id="4" name="Picture 3" descr="01-pooled-vs-stratified--effect-estimates-at-95-european-ancestry.png"/>
          <p:cNvPicPr>
            <a:picLocks noChangeAspect="1"/>
          </p:cNvPicPr>
          <p:nvPr/>
        </p:nvPicPr>
        <p:blipFill>
          <a:blip r:embed="rId2"/>
          <a:stretch>
            <a:fillRect/>
          </a:stretch>
        </p:blipFill>
        <p:spPr>
          <a:xfrm>
            <a:off x="860420" y="2240280"/>
            <a:ext cx="10477254" cy="40233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latform:m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Power curve at 95% European ancestry</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1 · Reveal</a:t>
            </a:r>
          </a:p>
        </p:txBody>
      </p:sp>
      <p:pic>
        <p:nvPicPr>
          <p:cNvPr id="4" name="Picture 3" descr="01-pooled-vs-stratified--power-curve-at-95-european-ancestry.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76" y="218882"/>
            <a:ext cx="4896812" cy="755989"/>
          </a:xfrm>
        </p:spPr>
        <p:txBody>
          <a:bodyPr/>
          <a:lstStyle/>
          <a:p>
            <a:r>
              <a:t>Genomics today</a:t>
            </a:r>
          </a:p>
        </p:txBody>
      </p:sp>
      <p:sp>
        <p:nvSpPr>
          <p:cNvPr id="3" name="Content Placeholder 2">
            <a:extLst>
              <a:ext uri="{FF2B5EF4-FFF2-40B4-BE49-F238E27FC236}">
                <a16:creationId xmlns:a16="http://schemas.microsoft.com/office/drawing/2014/main" id="{1AC4D52D-97D1-555A-C6AE-DF946D34C26B}"/>
              </a:ext>
            </a:extLst>
          </p:cNvPr>
          <p:cNvSpPr>
            <a:spLocks noGrp="1"/>
          </p:cNvSpPr>
          <p:nvPr>
            <p:ph sz="half" idx="1"/>
          </p:nvPr>
        </p:nvSpPr>
        <p:spPr>
          <a:xfrm>
            <a:off x="151064" y="1835234"/>
            <a:ext cx="3913207" cy="3797254"/>
          </a:xfrm>
        </p:spPr>
        <p:txBody>
          <a:bodyPr>
            <a:normAutofit fontScale="95999"/>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More studies are STILL in predominantly European-descent populations.</a:t>
            </a:r>
          </a:p>
        </p:txBody>
      </p:sp>
      <p:sp>
        <p:nvSpPr>
          <p:cNvPr id="18437" name="TextBox 4">
            <a:extLst>
              <a:ext uri="{FF2B5EF4-FFF2-40B4-BE49-F238E27FC236}">
                <a16:creationId xmlns:a16="http://schemas.microsoft.com/office/drawing/2014/main" id="{68FAD33A-45CC-8B08-0A54-B2556E892ADB}"/>
              </a:ext>
            </a:extLst>
          </p:cNvPr>
          <p:cNvSpPr txBox="1">
            <a:spLocks noChangeArrowheads="1"/>
          </p:cNvSpPr>
          <p:nvPr/>
        </p:nvSpPr>
        <p:spPr bwMode="auto">
          <a:xfrm>
            <a:off x="139599" y="6269720"/>
            <a:ext cx="1648054" cy="226214"/>
          </a:xfrm>
          <a:prstGeom prst="rect">
            <a:avLst/>
          </a:prstGeom>
          <a:noFill/>
          <a:ln w="9525">
            <a:noFill/>
            <a:miter lim="800000"/>
            <a:headEnd/>
            <a:tailEnd/>
          </a:ln>
        </p:spPr>
        <p:txBody>
          <a:bodyPr wrap="square">
            <a:normAutofit fontScale="73499"/>
          </a:bodyPr>
          <a:lstStyle/>
          <a:p>
            <a:r>
              <a:rPr lang="en-US" sz="1400" dirty="0" err="1">
                <a:latin typeface="Franklin Gothic Medium" pitchFamily="34" charset="0"/>
              </a:rPr>
              <a:t>Sirugo</a:t>
            </a:r>
            <a:r>
              <a:rPr lang="en-US" sz="1400" dirty="0">
                <a:latin typeface="Franklin Gothic Medium" pitchFamily="34" charset="0"/>
              </a:rPr>
              <a:t> et al, </a:t>
            </a:r>
            <a:r>
              <a:rPr lang="en-US" sz="1400" i="1" dirty="0">
                <a:latin typeface="Franklin Gothic Medium" pitchFamily="34" charset="0"/>
              </a:rPr>
              <a:t>Cell</a:t>
            </a:r>
            <a:r>
              <a:rPr lang="en-US" sz="1400" dirty="0">
                <a:latin typeface="Franklin Gothic Medium" pitchFamily="34" charset="0"/>
              </a:rPr>
              <a:t>, 2019</a:t>
            </a:r>
          </a:p>
        </p:txBody>
      </p:sp>
      <p:pic>
        <p:nvPicPr>
          <p:cNvPr id="7" name="Picture 6">
            <a:extLst>
              <a:ext uri="{FF2B5EF4-FFF2-40B4-BE49-F238E27FC236}">
                <a16:creationId xmlns:a16="http://schemas.microsoft.com/office/drawing/2014/main" id="{B707D2AD-A4D2-25CA-1659-96C8945DE5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4317" y="979716"/>
            <a:ext cx="7986874" cy="55055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7CF13-AEEF-1BAF-E800-9D06D243E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88C8B-EE76-5D84-2D58-B388F10FFFAB}"/>
              </a:ext>
            </a:extLst>
          </p:cNvPr>
          <p:cNvSpPr>
            <a:spLocks noGrp="1"/>
          </p:cNvSpPr>
          <p:nvPr>
            <p:ph type="title"/>
          </p:nvPr>
        </p:nvSpPr>
        <p:spPr>
          <a:xfrm>
            <a:off x="838200" y="241973"/>
            <a:ext cx="10523296" cy="779079"/>
          </a:xfrm>
        </p:spPr>
        <p:txBody>
          <a:bodyPr/>
          <a:lstStyle/>
          <a:p>
            <a:r>
              <a:t>Genomics today</a:t>
            </a:r>
          </a:p>
        </p:txBody>
      </p:sp>
      <p:sp>
        <p:nvSpPr>
          <p:cNvPr id="3" name="Content Placeholder 2">
            <a:extLst>
              <a:ext uri="{FF2B5EF4-FFF2-40B4-BE49-F238E27FC236}">
                <a16:creationId xmlns:a16="http://schemas.microsoft.com/office/drawing/2014/main" id="{D0EE74F1-B5F1-51DE-1BE4-B33693884BF2}"/>
              </a:ext>
            </a:extLst>
          </p:cNvPr>
          <p:cNvSpPr>
            <a:spLocks noGrp="1"/>
          </p:cNvSpPr>
          <p:nvPr>
            <p:ph sz="half" idx="1"/>
          </p:nvPr>
        </p:nvSpPr>
        <p:spPr>
          <a:xfrm>
            <a:off x="135670" y="5614445"/>
            <a:ext cx="11948843" cy="710770"/>
          </a:xfrm>
        </p:spPr>
        <p:txBody>
          <a:bodyPr>
            <a:normAutofit fontScale="80999"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More studies are STILL in predominantly European-descent populations.</a:t>
            </a:r>
          </a:p>
        </p:txBody>
      </p:sp>
      <p:sp>
        <p:nvSpPr>
          <p:cNvPr id="18437" name="TextBox 4">
            <a:extLst>
              <a:ext uri="{FF2B5EF4-FFF2-40B4-BE49-F238E27FC236}">
                <a16:creationId xmlns:a16="http://schemas.microsoft.com/office/drawing/2014/main" id="{15646C11-488F-F0C8-D4C4-1245637D1F7D}"/>
              </a:ext>
            </a:extLst>
          </p:cNvPr>
          <p:cNvSpPr txBox="1">
            <a:spLocks noChangeArrowheads="1"/>
          </p:cNvSpPr>
          <p:nvPr/>
        </p:nvSpPr>
        <p:spPr bwMode="auto">
          <a:xfrm>
            <a:off x="139599" y="6269720"/>
            <a:ext cx="1648054" cy="226214"/>
          </a:xfrm>
          <a:prstGeom prst="rect">
            <a:avLst/>
          </a:prstGeom>
          <a:noFill/>
          <a:ln w="9525">
            <a:noFill/>
            <a:miter lim="800000"/>
            <a:headEnd/>
            <a:tailEnd/>
          </a:ln>
        </p:spPr>
        <p:txBody>
          <a:bodyPr wrap="square">
            <a:normAutofit fontScale="73499"/>
          </a:bodyPr>
          <a:lstStyle/>
          <a:p>
            <a:r>
              <a:rPr lang="en-US" sz="1400" dirty="0" err="1">
                <a:latin typeface="Franklin Gothic Medium" pitchFamily="34" charset="0"/>
              </a:rPr>
              <a:t>Sirugo</a:t>
            </a:r>
            <a:r>
              <a:rPr lang="en-US" sz="1400" dirty="0">
                <a:latin typeface="Franklin Gothic Medium" pitchFamily="34" charset="0"/>
              </a:rPr>
              <a:t> et al, </a:t>
            </a:r>
            <a:r>
              <a:rPr lang="en-US" sz="1400" i="1" dirty="0">
                <a:latin typeface="Franklin Gothic Medium" pitchFamily="34" charset="0"/>
              </a:rPr>
              <a:t>Cell</a:t>
            </a:r>
            <a:r>
              <a:rPr lang="en-US" sz="1400" dirty="0">
                <a:latin typeface="Franklin Gothic Medium" pitchFamily="34" charset="0"/>
              </a:rPr>
              <a:t>, 2019</a:t>
            </a:r>
          </a:p>
        </p:txBody>
      </p:sp>
      <p:pic>
        <p:nvPicPr>
          <p:cNvPr id="8" name="Picture 7">
            <a:extLst>
              <a:ext uri="{FF2B5EF4-FFF2-40B4-BE49-F238E27FC236}">
                <a16:creationId xmlns:a16="http://schemas.microsoft.com/office/drawing/2014/main" id="{FBBF4B9F-7B30-FDBD-3A3D-45D0463050CC}"/>
              </a:ext>
            </a:extLst>
          </p:cNvPr>
          <p:cNvPicPr>
            <a:picLocks noChangeAspect="1"/>
          </p:cNvPicPr>
          <p:nvPr/>
        </p:nvPicPr>
        <p:blipFill>
          <a:blip r:embed="rId2"/>
          <a:stretch>
            <a:fillRect/>
          </a:stretch>
        </p:blipFill>
        <p:spPr>
          <a:xfrm>
            <a:off x="1298708" y="1560462"/>
            <a:ext cx="5526176" cy="3735966"/>
          </a:xfrm>
          <a:prstGeom prst="rect">
            <a:avLst/>
          </a:prstGeom>
        </p:spPr>
      </p:pic>
      <p:pic>
        <p:nvPicPr>
          <p:cNvPr id="4" name="Picture 3">
            <a:extLst>
              <a:ext uri="{FF2B5EF4-FFF2-40B4-BE49-F238E27FC236}">
                <a16:creationId xmlns:a16="http://schemas.microsoft.com/office/drawing/2014/main" id="{34ECCCAB-5AF3-7551-4ABE-A548648F4CA6}"/>
              </a:ext>
            </a:extLst>
          </p:cNvPr>
          <p:cNvPicPr>
            <a:picLocks noChangeAspect="1"/>
          </p:cNvPicPr>
          <p:nvPr/>
        </p:nvPicPr>
        <p:blipFill>
          <a:blip r:embed="rId3"/>
          <a:stretch>
            <a:fillRect/>
          </a:stretch>
        </p:blipFill>
        <p:spPr>
          <a:xfrm>
            <a:off x="7348382" y="251385"/>
            <a:ext cx="3061510" cy="5348699"/>
          </a:xfrm>
          <a:prstGeom prst="rect">
            <a:avLst/>
          </a:prstGeom>
        </p:spPr>
      </p:pic>
    </p:spTree>
    <p:extLst>
      <p:ext uri="{BB962C8B-B14F-4D97-AF65-F5344CB8AC3E}">
        <p14:creationId xmlns:p14="http://schemas.microsoft.com/office/powerpoint/2010/main" val="3554514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8CB2D3-8194-1FFB-5A40-A73CE0466179}"/>
              </a:ext>
            </a:extLst>
          </p:cNvPr>
          <p:cNvSpPr txBox="1"/>
          <p:nvPr/>
        </p:nvSpPr>
        <p:spPr>
          <a:xfrm>
            <a:off x="274320" y="3725616"/>
            <a:ext cx="4200935" cy="6292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normAutofit fontScale="98618"/>
          </a:bodyPr>
          <a:lstStyle/>
          <a:p>
            <a:pPr algn="ctr" defTabSz="308063" hangingPunct="0"/>
            <a:r>
              <a:rPr lang="en-US" sz="1265" dirty="0" err="1">
                <a:solidFill>
                  <a:srgbClr val="414141"/>
                </a:solidFill>
                <a:latin typeface="Palatino"/>
                <a:ea typeface="Palatino"/>
                <a:cs typeface="Palatino"/>
                <a:sym typeface="Palatino"/>
              </a:rPr>
              <a:t>Sirugo</a:t>
            </a:r>
            <a:r>
              <a:rPr lang="en-US" sz="1265" dirty="0">
                <a:solidFill>
                  <a:srgbClr val="414141"/>
                </a:solidFill>
                <a:latin typeface="Palatino"/>
                <a:ea typeface="Palatino"/>
                <a:cs typeface="Palatino"/>
                <a:sym typeface="Palatino"/>
              </a:rPr>
              <a:t> et al.  The Missing Diversity in Human Genetic Studies.  Cell 2019</a:t>
            </a:r>
          </a:p>
          <a:p>
            <a:pPr algn="ctr" defTabSz="308063" hangingPunct="0"/>
            <a:r>
              <a:rPr lang="en-US" sz="1265" dirty="0" err="1">
                <a:solidFill>
                  <a:srgbClr val="414141"/>
                </a:solidFill>
                <a:latin typeface="Palatino"/>
                <a:ea typeface="Palatino"/>
                <a:cs typeface="Palatino"/>
                <a:sym typeface="Palatino"/>
              </a:rPr>
              <a:t>Fruchart</a:t>
            </a:r>
            <a:r>
              <a:rPr lang="en-US" sz="1265" dirty="0">
                <a:solidFill>
                  <a:srgbClr val="414141"/>
                </a:solidFill>
                <a:latin typeface="Palatino"/>
                <a:ea typeface="Palatino"/>
                <a:cs typeface="Palatino"/>
                <a:sym typeface="Palatino"/>
              </a:rPr>
              <a:t>, International Journal of Diabetes Mellitus, 2010.</a:t>
            </a:r>
          </a:p>
        </p:txBody>
      </p:sp>
      <p:pic>
        <p:nvPicPr>
          <p:cNvPr id="3" name="Picture 2">
            <a:extLst>
              <a:ext uri="{FF2B5EF4-FFF2-40B4-BE49-F238E27FC236}">
                <a16:creationId xmlns:a16="http://schemas.microsoft.com/office/drawing/2014/main" id="{175BBDFB-ED82-5E04-4B25-AA8555E6001A}"/>
              </a:ext>
            </a:extLst>
          </p:cNvPr>
          <p:cNvPicPr>
            <a:picLocks noChangeAspect="1"/>
          </p:cNvPicPr>
          <p:nvPr/>
        </p:nvPicPr>
        <p:blipFill>
          <a:blip r:embed="rId2"/>
          <a:stretch>
            <a:fillRect/>
          </a:stretch>
        </p:blipFill>
        <p:spPr>
          <a:xfrm>
            <a:off x="384349" y="1231267"/>
            <a:ext cx="4090905" cy="2267880"/>
          </a:xfrm>
          <a:prstGeom prst="rect">
            <a:avLst/>
          </a:prstGeom>
        </p:spPr>
      </p:pic>
      <p:pic>
        <p:nvPicPr>
          <p:cNvPr id="5" name="Picture 4">
            <a:extLst>
              <a:ext uri="{FF2B5EF4-FFF2-40B4-BE49-F238E27FC236}">
                <a16:creationId xmlns:a16="http://schemas.microsoft.com/office/drawing/2014/main" id="{BFBF1B5E-718E-D580-95CA-50178313D761}"/>
              </a:ext>
            </a:extLst>
          </p:cNvPr>
          <p:cNvPicPr>
            <a:picLocks noChangeAspect="1"/>
          </p:cNvPicPr>
          <p:nvPr/>
        </p:nvPicPr>
        <p:blipFill>
          <a:blip r:embed="rId3"/>
          <a:stretch>
            <a:fillRect/>
          </a:stretch>
        </p:blipFill>
        <p:spPr>
          <a:xfrm>
            <a:off x="4890411" y="1329875"/>
            <a:ext cx="7024220" cy="3905891"/>
          </a:xfrm>
          <a:prstGeom prst="rect">
            <a:avLst/>
          </a:prstGeom>
        </p:spPr>
      </p:pic>
      <p:pic>
        <p:nvPicPr>
          <p:cNvPr id="7" name="Picture 6">
            <a:extLst>
              <a:ext uri="{FF2B5EF4-FFF2-40B4-BE49-F238E27FC236}">
                <a16:creationId xmlns:a16="http://schemas.microsoft.com/office/drawing/2014/main" id="{8E839D3C-2BAF-62EB-3003-57EA007C9ADC}"/>
              </a:ext>
            </a:extLst>
          </p:cNvPr>
          <p:cNvPicPr>
            <a:picLocks noChangeAspect="1"/>
          </p:cNvPicPr>
          <p:nvPr/>
        </p:nvPicPr>
        <p:blipFill>
          <a:blip r:embed="rId4"/>
          <a:stretch>
            <a:fillRect/>
          </a:stretch>
        </p:blipFill>
        <p:spPr>
          <a:xfrm>
            <a:off x="4249654" y="228600"/>
            <a:ext cx="7664977" cy="776199"/>
          </a:xfrm>
          <a:prstGeom prst="rect">
            <a:avLst/>
          </a:prstGeom>
        </p:spPr>
      </p:pic>
      <p:sp>
        <p:nvSpPr>
          <p:cNvPr id="8" name="Rectangle 7">
            <a:extLst>
              <a:ext uri="{FF2B5EF4-FFF2-40B4-BE49-F238E27FC236}">
                <a16:creationId xmlns:a16="http://schemas.microsoft.com/office/drawing/2014/main" id="{E2BF26A9-AF83-1267-27D6-C5C3F2E29C71}"/>
              </a:ext>
            </a:extLst>
          </p:cNvPr>
          <p:cNvSpPr/>
          <p:nvPr/>
        </p:nvSpPr>
        <p:spPr>
          <a:xfrm>
            <a:off x="5956367" y="3577710"/>
            <a:ext cx="5848234" cy="216422"/>
          </a:xfrm>
          <a:prstGeom prst="rect">
            <a:avLst/>
          </a:prstGeom>
          <a:solidFill>
            <a:schemeClr val="accent4">
              <a:alpha val="430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8618"/>
          </a:bodyPr>
          <a:lstStyle/>
          <a:p>
            <a:pPr algn="ctr"/>
            <a:endParaRPr lang="en-US"/>
          </a:p>
        </p:txBody>
      </p:sp>
      <p:sp>
        <p:nvSpPr>
          <p:cNvPr id="9" name="Rectangle 8">
            <a:extLst>
              <a:ext uri="{FF2B5EF4-FFF2-40B4-BE49-F238E27FC236}">
                <a16:creationId xmlns:a16="http://schemas.microsoft.com/office/drawing/2014/main" id="{967C2E04-5204-ABAD-FC63-C46ACEA2DF74}"/>
              </a:ext>
            </a:extLst>
          </p:cNvPr>
          <p:cNvSpPr/>
          <p:nvPr/>
        </p:nvSpPr>
        <p:spPr>
          <a:xfrm>
            <a:off x="4890411" y="3878413"/>
            <a:ext cx="3807800" cy="216422"/>
          </a:xfrm>
          <a:prstGeom prst="rect">
            <a:avLst/>
          </a:prstGeom>
          <a:solidFill>
            <a:schemeClr val="accent4">
              <a:alpha val="430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8618"/>
          </a:bodyP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latform:m2: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Within-Ancestry Testing vs Meta-Analysis</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2 · Commit first</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800"/>
              </a:spcAft>
            </a:pPr>
            <a:r>
              <a:rPr sz="2400" b="1"/>
              <a:t>Four ancestry groups are meta-analysed. Push heterogeneity to 100%, where the East Asian effect is about 3 times the others'. What happens to the fixed-effect summary?</a:t>
            </a:r>
          </a:p>
          <a:p>
            <a:pPr>
              <a:spcAft>
                <a:spcPts val="800"/>
              </a:spcAft>
            </a:pPr>
            <a:r>
              <a:rPr sz="2400" b="0"/>
              <a:t>A.  It stays narrow and significant</a:t>
            </a:r>
          </a:p>
          <a:p>
            <a:pPr>
              <a:spcAft>
                <a:spcPts val="800"/>
              </a:spcAft>
            </a:pPr>
            <a:r>
              <a:rPr sz="2400" b="0"/>
              <a:t>B.  Its interval widens like the random-effects one</a:t>
            </a:r>
          </a:p>
          <a:p>
            <a:pPr>
              <a:spcAft>
                <a:spcPts val="800"/>
              </a:spcAft>
            </a:pPr>
            <a:r>
              <a:rPr sz="2400" b="0"/>
              <a:t>C.  It stops being significant</a:t>
            </a:r>
          </a:p>
          <a:p>
            <a:pPr>
              <a:spcAft>
                <a:spcPts val="800"/>
              </a:spcAft>
            </a:pPr>
            <a:r>
              <a:rPr sz="2400" b="0"/>
              <a:t>D.  It flips sign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latform:m2: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Within-Ancestry Testing vs Meta-Analysis: the answer</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2 · Reveal</a:t>
            </a:r>
          </a:p>
        </p:txBody>
      </p:sp>
      <p:sp>
        <p:nvSpPr>
          <p:cNvPr id="4" name="TextBox 3"/>
          <p:cNvSpPr txBox="1"/>
          <p:nvPr/>
        </p:nvSpPr>
        <p:spPr>
          <a:xfrm>
            <a:off x="841248" y="2240280"/>
            <a:ext cx="10515600" cy="3977639"/>
          </a:xfrm>
          <a:prstGeom prst="rect">
            <a:avLst/>
          </a:prstGeom>
          <a:noFill/>
        </p:spPr>
        <p:txBody>
          <a:bodyPr wrap="square" lIns="0" tIns="0" rIns="0" bIns="0" anchor="ctr">
            <a:spAutoFit/>
          </a:bodyPr>
          <a:lstStyle/>
          <a:p>
            <a:pPr>
              <a:spcAft>
                <a:spcPts val="1200"/>
              </a:spcAft>
            </a:pPr>
            <a:r>
              <a:rPr sz="2800" b="1">
                <a:solidFill>
                  <a:schemeClr val="accent2"/>
                </a:solidFill>
              </a:rPr>
              <a:t>Answer</a:t>
            </a:r>
          </a:p>
          <a:p>
            <a:pPr>
              <a:spcAft>
                <a:spcPts val="1200"/>
              </a:spcAft>
            </a:pPr>
            <a:r>
              <a:rPr sz="4000" b="1">
                <a:solidFill>
                  <a:schemeClr val="accent1"/>
                </a:solidFill>
              </a:rPr>
              <a:t>It stays narrow and significant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latform:m2: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2: Forest plot at 0% heterogeneity</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2 · Reveal</a:t>
            </a:r>
          </a:p>
        </p:txBody>
      </p:sp>
      <p:pic>
        <p:nvPicPr>
          <p:cNvPr id="4" name="Picture 3" descr="02-within-vs-meta--forest-plot-at-0-heterogeneity.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latform:m2: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2: Forest plot at 100% heterogeneity</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2 · Reveal</a:t>
            </a:r>
          </a:p>
        </p:txBody>
      </p:sp>
      <p:pic>
        <p:nvPicPr>
          <p:cNvPr id="4" name="Picture 3" descr="02-within-vs-meta--forest-plot-at-100-heterogeneity.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469158-F92C-9704-CBAF-54F9B5D6206F}"/>
              </a:ext>
            </a:extLst>
          </p:cNvPr>
          <p:cNvPicPr>
            <a:picLocks noChangeAspect="1"/>
          </p:cNvPicPr>
          <p:nvPr/>
        </p:nvPicPr>
        <p:blipFill>
          <a:blip r:embed="rId2"/>
          <a:srcRect b="6126"/>
          <a:stretch>
            <a:fillRect/>
          </a:stretch>
        </p:blipFill>
        <p:spPr>
          <a:xfrm>
            <a:off x="2712492" y="51569"/>
            <a:ext cx="6759321" cy="6306169"/>
          </a:xfrm>
          <a:prstGeom prst="rect">
            <a:avLst/>
          </a:prstGeom>
        </p:spPr>
      </p:pic>
      <p:sp>
        <p:nvSpPr>
          <p:cNvPr id="6" name="TextBox 5">
            <a:extLst>
              <a:ext uri="{FF2B5EF4-FFF2-40B4-BE49-F238E27FC236}">
                <a16:creationId xmlns:a16="http://schemas.microsoft.com/office/drawing/2014/main" id="{AB889E75-1D1C-598C-FBBD-5C14DB23A66E}"/>
              </a:ext>
            </a:extLst>
          </p:cNvPr>
          <p:cNvSpPr txBox="1"/>
          <p:nvPr/>
        </p:nvSpPr>
        <p:spPr>
          <a:xfrm>
            <a:off x="130955" y="6357740"/>
            <a:ext cx="4297078" cy="275354"/>
          </a:xfrm>
          <a:prstGeom prst="rect">
            <a:avLst/>
          </a:prstGeom>
          <a:noFill/>
        </p:spPr>
        <p:txBody>
          <a:bodyPr wrap="none" rtlCol="0">
            <a:normAutofit fontScale="89466"/>
          </a:bodyPr>
          <a:lstStyle/>
          <a:p>
            <a:r>
              <a:rPr lang="en-US" sz="1400" dirty="0">
                <a:hlinkClick r:id="rId3" tooltip="Go to table of contents for this volume/issue">
                  <a:extLst>
                    <a:ext uri="{A12FA001-AC4F-418D-AE19-62706E023703}">
                      <ahyp:hlinkClr xmlns:ahyp="http://schemas.microsoft.com/office/drawing/2018/hyperlinkcolor" val="tx"/>
                    </a:ext>
                  </a:extLst>
                </a:hlinkClick>
              </a:rPr>
              <a:t>Dias et al, AJHG,  112(10</a:t>
            </a:r>
            <a:r>
              <a:rPr lang="en-US" sz="1400" dirty="0"/>
              <a:t>), 2 October 2025, Pages 2493-2508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161">
            <a:extLst>
              <a:ext uri="{FF2B5EF4-FFF2-40B4-BE49-F238E27FC236}">
                <a16:creationId xmlns:a16="http://schemas.microsoft.com/office/drawing/2014/main" id="{7FE61B7E-9229-884F-8455-DA9DC4118B8F}"/>
              </a:ext>
            </a:extLst>
          </p:cNvPr>
          <p:cNvSpPr txBox="1">
            <a:spLocks/>
          </p:cNvSpPr>
          <p:nvPr/>
        </p:nvSpPr>
        <p:spPr>
          <a:xfrm>
            <a:off x="6534729" y="2446184"/>
            <a:ext cx="4963295" cy="2401282"/>
          </a:xfrm>
          <a:prstGeom prst="rect">
            <a:avLst/>
          </a:prstGeom>
          <a:ln w="12700">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marL="4699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1pPr>
            <a:lvl2pPr marL="9398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2pPr>
            <a:lvl3pPr marL="14097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3pPr>
            <a:lvl4pPr marL="18796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4pPr>
            <a:lvl5pPr marL="23495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5pPr>
            <a:lvl6pPr marL="28194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6pPr>
            <a:lvl7pPr marL="32893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7pPr>
            <a:lvl8pPr marL="37592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8pPr>
            <a:lvl9pPr marL="42291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ln>
                  <a:noFill/>
                </a:ln>
                <a:solidFill>
                  <a:srgbClr val="414141"/>
                </a:solidFill>
                <a:uFillTx/>
                <a:latin typeface="Palatino"/>
                <a:ea typeface="Palatino"/>
                <a:cs typeface="Palatino"/>
                <a:sym typeface="Palatino"/>
              </a:defRPr>
            </a:lvl9pPr>
          </a:lstStyle>
          <a:p>
            <a:pPr marL="0" indent="0" defTabSz="241093">
              <a:lnSpc>
                <a:spcPct val="130000"/>
              </a:lnSpc>
              <a:buNone/>
              <a:defRPr>
                <a:solidFill>
                  <a:srgbClr val="000000"/>
                </a:solidFill>
              </a:defRPr>
            </a:pPr>
            <a:r>
              <a:rPr lang="en-US" sz="1477" dirty="0"/>
              <a:t>“Even when diverse populations are studied, specific gene effects in these populations may not be evident, </a:t>
            </a:r>
            <a:r>
              <a:rPr lang="en-US" sz="1477" b="1" dirty="0">
                <a:solidFill>
                  <a:srgbClr val="C00000"/>
                </a:solidFill>
              </a:rPr>
              <a:t>as often diverse populations are studied only as part of large meta-analyses that estimate associations from combined data</a:t>
            </a:r>
            <a:r>
              <a:rPr lang="en-US" sz="1477" dirty="0"/>
              <a:t>. The result of this analytical strategy is to identify variants that have mostly similar effects across populations, but it can reduce the ability to detect population-specific genetic risk factors.”</a:t>
            </a:r>
            <a:endParaRPr lang="en-US" sz="1477" dirty="0">
              <a:solidFill>
                <a:srgbClr val="000000"/>
              </a:solidFill>
            </a:endParaRPr>
          </a:p>
        </p:txBody>
      </p:sp>
      <p:pic>
        <p:nvPicPr>
          <p:cNvPr id="17" name="Picture 16">
            <a:extLst>
              <a:ext uri="{FF2B5EF4-FFF2-40B4-BE49-F238E27FC236}">
                <a16:creationId xmlns:a16="http://schemas.microsoft.com/office/drawing/2014/main" id="{4D63482B-D369-144A-BD43-9970C49EC568}"/>
              </a:ext>
            </a:extLst>
          </p:cNvPr>
          <p:cNvPicPr>
            <a:picLocks noChangeAspect="1"/>
          </p:cNvPicPr>
          <p:nvPr/>
        </p:nvPicPr>
        <p:blipFill rotWithShape="1">
          <a:blip r:embed="rId2"/>
          <a:srcRect t="46342"/>
          <a:stretch/>
        </p:blipFill>
        <p:spPr>
          <a:xfrm>
            <a:off x="663188" y="1919444"/>
            <a:ext cx="5648902" cy="3220507"/>
          </a:xfrm>
          <a:prstGeom prst="rect">
            <a:avLst/>
          </a:prstGeom>
        </p:spPr>
      </p:pic>
      <p:sp>
        <p:nvSpPr>
          <p:cNvPr id="2" name="TextBox 1">
            <a:extLst>
              <a:ext uri="{FF2B5EF4-FFF2-40B4-BE49-F238E27FC236}">
                <a16:creationId xmlns:a16="http://schemas.microsoft.com/office/drawing/2014/main" id="{2E2B7090-9541-D4BC-5508-144640E11216}"/>
              </a:ext>
            </a:extLst>
          </p:cNvPr>
          <p:cNvSpPr txBox="1"/>
          <p:nvPr/>
        </p:nvSpPr>
        <p:spPr>
          <a:xfrm>
            <a:off x="889686" y="5647038"/>
            <a:ext cx="3339376" cy="369332"/>
          </a:xfrm>
          <a:prstGeom prst="rect">
            <a:avLst/>
          </a:prstGeom>
          <a:noFill/>
        </p:spPr>
        <p:txBody>
          <a:bodyPr wrap="none" rtlCol="0">
            <a:spAutoFit/>
          </a:bodyPr>
          <a:lstStyle/>
          <a:p>
            <a:r>
              <a:rPr lang="en-US" dirty="0"/>
              <a:t>Cell. 2019 Mar 21;177(1):26–31.</a:t>
            </a:r>
          </a:p>
        </p:txBody>
      </p:sp>
      <p:sp>
        <p:nvSpPr>
          <p:cNvPr id="3" name="Title 2">
            <a:extLst>
              <a:ext uri="{FF2B5EF4-FFF2-40B4-BE49-F238E27FC236}">
                <a16:creationId xmlns:a16="http://schemas.microsoft.com/office/drawing/2014/main" id="{59A952D0-2134-DD01-58C9-3994D8123902}"/>
              </a:ext>
            </a:extLst>
          </p:cNvPr>
          <p:cNvSpPr>
            <a:spLocks noGrp="1"/>
          </p:cNvSpPr>
          <p:nvPr>
            <p:ph type="title"/>
          </p:nvPr>
        </p:nvSpPr>
        <p:spPr>
          <a:xfrm>
            <a:off x="670560" y="319405"/>
            <a:ext cx="10828020" cy="1348423"/>
          </a:xfrm>
        </p:spPr>
        <p:txBody>
          <a:bodyPr>
            <a:normAutofit/>
          </a:bodyPr>
          <a:lstStyle/>
          <a:p>
            <a:r>
              <a:rPr lang="en-US">
                <a:latin typeface="Poppins"/>
                <a:cs typeface="Poppins"/>
              </a:rPr>
              <a:t>Opposite effects by ancestry: which model detects them?</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latform:m3: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Global vs Local Ancestry Modeling</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3 · Commit first</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800"/>
              </a:spcAft>
            </a:pPr>
            <a:r>
              <a:rPr sz="2400" b="1"/>
              <a:t>The tag SNP has opposite effects on African- and European-ancestry haplotypes (+0.12 and -0.08) in a 15,000-person admixed study. Which is the simplest analysis that detects it at p &lt; 0.05?</a:t>
            </a:r>
          </a:p>
          <a:p>
            <a:pPr>
              <a:spcAft>
                <a:spcPts val="800"/>
              </a:spcAft>
            </a:pPr>
            <a:r>
              <a:rPr sz="2400" b="0"/>
              <a:t>A.  Global ancestry PCs</a:t>
            </a:r>
          </a:p>
          <a:p>
            <a:pPr>
              <a:spcAft>
                <a:spcPts val="800"/>
              </a:spcAft>
            </a:pPr>
            <a:r>
              <a:rPr sz="2400" b="0"/>
              <a:t>B.  Adding local ancestry as a covariate</a:t>
            </a:r>
          </a:p>
          <a:p>
            <a:pPr>
              <a:spcAft>
                <a:spcPts val="800"/>
              </a:spcAft>
            </a:pPr>
            <a:r>
              <a:rPr sz="2400" b="0"/>
              <a:t>C.  Local ancestry interaction</a:t>
            </a:r>
          </a:p>
          <a:p>
            <a:pPr>
              <a:spcAft>
                <a:spcPts val="800"/>
              </a:spcAft>
            </a:pPr>
            <a:r>
              <a:rPr sz="2400" b="0"/>
              <a:t>D.  None at this sample size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latform:m3: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Global vs Local Ancestry Modeling: the answer</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3 · Reveal</a:t>
            </a:r>
          </a:p>
        </p:txBody>
      </p:sp>
      <p:sp>
        <p:nvSpPr>
          <p:cNvPr id="4" name="TextBox 3"/>
          <p:cNvSpPr txBox="1"/>
          <p:nvPr/>
        </p:nvSpPr>
        <p:spPr>
          <a:xfrm>
            <a:off x="841248" y="2240280"/>
            <a:ext cx="10515600" cy="3977639"/>
          </a:xfrm>
          <a:prstGeom prst="rect">
            <a:avLst/>
          </a:prstGeom>
          <a:noFill/>
        </p:spPr>
        <p:txBody>
          <a:bodyPr wrap="square" lIns="0" tIns="0" rIns="0" bIns="0" anchor="ctr">
            <a:spAutoFit/>
          </a:bodyPr>
          <a:lstStyle/>
          <a:p>
            <a:pPr>
              <a:spcAft>
                <a:spcPts val="1200"/>
              </a:spcAft>
            </a:pPr>
            <a:r>
              <a:rPr sz="2800" b="1">
                <a:solidFill>
                  <a:schemeClr val="accent2"/>
                </a:solidFill>
              </a:rPr>
              <a:t>Answer</a:t>
            </a:r>
          </a:p>
          <a:p>
            <a:pPr>
              <a:spcAft>
                <a:spcPts val="1200"/>
              </a:spcAft>
            </a:pPr>
            <a:r>
              <a:rPr sz="4000" b="1">
                <a:solidFill>
                  <a:schemeClr val="accent1"/>
                </a:solidFill>
              </a:rPr>
              <a:t>Local ancestry interaction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latform:m3: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Does each model detect the locus?</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3 · Reveal</a:t>
            </a:r>
          </a:p>
        </p:txBody>
      </p:sp>
      <p:pic>
        <p:nvPicPr>
          <p:cNvPr id="4" name="Picture 3" descr="03-global-vs-local-ancestry--does-each-model-detect-the-locus.png"/>
          <p:cNvPicPr>
            <a:picLocks noChangeAspect="1"/>
          </p:cNvPicPr>
          <p:nvPr/>
        </p:nvPicPr>
        <p:blipFill>
          <a:blip r:embed="rId3"/>
          <a:stretch>
            <a:fillRect/>
          </a:stretch>
        </p:blipFill>
        <p:spPr>
          <a:xfrm>
            <a:off x="845013" y="2240280"/>
            <a:ext cx="10508069" cy="40233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latform:m3: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Regional signal under each model</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3 · Reveal</a:t>
            </a:r>
          </a:p>
        </p:txBody>
      </p:sp>
      <p:pic>
        <p:nvPicPr>
          <p:cNvPr id="4" name="Picture 3" descr="03-global-vs-local-ancestry--regional-signal-under-each-model.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Local Ancestry Inference</a:t>
            </a:r>
          </a:p>
        </p:txBody>
      </p:sp>
      <p:sp>
        <p:nvSpPr>
          <p:cNvPr id="17" name="Content Placeholder 16"/>
          <p:cNvSpPr>
            <a:spLocks noGrp="1"/>
          </p:cNvSpPr>
          <p:nvPr>
            <p:ph sz="half" idx="1"/>
          </p:nvPr>
        </p:nvSpPr>
        <p:spPr>
          <a:xfrm>
            <a:off x="5629999" y="1783080"/>
            <a:ext cx="4876742" cy="327427"/>
          </a:xfrm>
        </p:spPr>
        <p:txBody>
          <a:bodyPr wrap="square">
            <a:normAutofit fontScale="86011"/>
          </a:bodyPr>
          <a:lstStyle>
            <a:lvl1pPr>
              <a:defRPr lang="en-US" smtClean="0"/>
            </a:lvl1pPr>
            <a:lvl2pPr>
              <a:defRPr lang="en-US" smtClean="0"/>
            </a:lvl2pPr>
            <a:lvl3pPr>
              <a:defRPr lang="en-US" smtClean="0"/>
            </a:lvl3pPr>
            <a:lvl4pPr>
              <a:defRPr lang="en-US" smtClean="0"/>
            </a:lvl4pPr>
            <a:lvl5pPr>
              <a:defRPr lang="en-US"/>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457206">
              <a:buNone/>
            </a:pPr>
            <a:r>
              <a:rPr lang="en-US" sz="2400" b="1" dirty="0"/>
              <a:t>Local Ancestry Inference – </a:t>
            </a:r>
            <a:r>
              <a:rPr lang="en-US" sz="2400" b="1" dirty="0" err="1"/>
              <a:t>RFMix</a:t>
            </a:r>
            <a:endParaRPr lang="en-US" sz="2400" b="1" dirty="0"/>
          </a:p>
        </p:txBody>
      </p:sp>
      <p:sp>
        <p:nvSpPr>
          <p:cNvPr id="4" name="Rectangle 1"/>
          <p:cNvSpPr/>
          <p:nvPr/>
        </p:nvSpPr>
        <p:spPr>
          <a:xfrm>
            <a:off x="864952" y="1785155"/>
            <a:ext cx="4679803" cy="198540"/>
          </a:xfrm>
          <a:prstGeom prst="rect">
            <a:avLst/>
          </a:prstGeom>
        </p:spPr>
        <p:txBody>
          <a:bodyPr wrap="square">
            <a:normAutofit fontScale="86011"/>
          </a:bodyPr>
          <a:lstStyle/>
          <a:p>
            <a:pPr algn="ctr"/>
            <a:r>
              <a:rPr lang="en-US" sz="900" b="1" dirty="0"/>
              <a:t>Global Ancestry Inference – PCA</a:t>
            </a:r>
          </a:p>
        </p:txBody>
      </p:sp>
      <p:pic>
        <p:nvPicPr>
          <p:cNvPr id="7" name="Content Placeholder 6"/>
          <p:cNvPicPr>
            <a:picLocks noChangeAspect="1"/>
          </p:cNvPicPr>
          <p:nvPr/>
        </p:nvPicPr>
        <p:blipFill rotWithShape="1">
          <a:blip r:embed="rId3"/>
          <a:srcRect l="3399" t="7052" r="43645" b="9960"/>
          <a:stretch/>
        </p:blipFill>
        <p:spPr>
          <a:xfrm>
            <a:off x="1149597" y="2194765"/>
            <a:ext cx="3215072" cy="3108004"/>
          </a:xfrm>
          <a:prstGeom prst="rect">
            <a:avLst/>
          </a:prstGeom>
        </p:spPr>
      </p:pic>
      <p:pic>
        <p:nvPicPr>
          <p:cNvPr id="9" name="Content Placeholder 6"/>
          <p:cNvPicPr>
            <a:picLocks noChangeAspect="1"/>
          </p:cNvPicPr>
          <p:nvPr/>
        </p:nvPicPr>
        <p:blipFill rotWithShape="1">
          <a:blip r:embed="rId3"/>
          <a:srcRect l="59289" t="51462" r="1810"/>
          <a:stretch/>
        </p:blipFill>
        <p:spPr>
          <a:xfrm>
            <a:off x="7866244" y="2238098"/>
            <a:ext cx="3457754" cy="2741270"/>
          </a:xfrm>
          <a:prstGeom prst="rect">
            <a:avLst/>
          </a:prstGeom>
        </p:spPr>
      </p:pic>
      <p:pic>
        <p:nvPicPr>
          <p:cNvPr id="18" name="Content Placeholder 6"/>
          <p:cNvPicPr>
            <a:picLocks noGrp="1" noChangeAspect="1"/>
          </p:cNvPicPr>
          <p:nvPr>
            <p:ph sz="half" idx="17"/>
          </p:nvPr>
        </p:nvPicPr>
        <p:blipFill rotWithShape="1">
          <a:blip r:embed="rId3"/>
          <a:srcRect l="59289" t="-380" r="1810" b="51893"/>
          <a:stretch/>
        </p:blipFill>
        <p:spPr>
          <a:xfrm>
            <a:off x="4727971" y="2261935"/>
            <a:ext cx="3433944" cy="2719520"/>
          </a:xfrm>
          <a:prstGeom prst="rect">
            <a:avLst/>
          </a:prstGeom>
        </p:spPr>
      </p:pic>
      <p:sp>
        <p:nvSpPr>
          <p:cNvPr id="3" name="Rectangle 2"/>
          <p:cNvSpPr/>
          <p:nvPr/>
        </p:nvSpPr>
        <p:spPr>
          <a:xfrm>
            <a:off x="9248223" y="3230323"/>
            <a:ext cx="818224" cy="518444"/>
          </a:xfrm>
          <a:prstGeom prst="rect">
            <a:avLst/>
          </a:prstGeom>
          <a:noFill/>
          <a:ln w="571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normAutofit fontScale="86011"/>
          </a:bodyPr>
          <a:lstStyle/>
          <a:p>
            <a:pPr algn="ctr"/>
            <a:endParaRPr lang="en-US"/>
          </a:p>
        </p:txBody>
      </p:sp>
      <p:sp>
        <p:nvSpPr>
          <p:cNvPr id="5" name="TextBox 4"/>
          <p:cNvSpPr txBox="1"/>
          <p:nvPr/>
        </p:nvSpPr>
        <p:spPr>
          <a:xfrm>
            <a:off x="4996652" y="5133941"/>
            <a:ext cx="5510089" cy="317665"/>
          </a:xfrm>
          <a:prstGeom prst="rect">
            <a:avLst/>
          </a:prstGeom>
          <a:noFill/>
        </p:spPr>
        <p:txBody>
          <a:bodyPr wrap="square" rtlCol="0">
            <a:normAutofit fontScale="86011"/>
          </a:bodyPr>
          <a:lstStyle/>
          <a:p>
            <a:r>
              <a:rPr lang="en-US" dirty="0"/>
              <a:t>Zhang </a:t>
            </a:r>
            <a:r>
              <a:rPr lang="en-US" i="1" dirty="0"/>
              <a:t>et al</a:t>
            </a:r>
            <a:r>
              <a:rPr lang="en-US" dirty="0"/>
              <a:t>., Clinical Pharmacology &amp; Therapeutics, 2019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ctor-tutorial">
            <a:extLst>
              <a:ext uri="{FF2B5EF4-FFF2-40B4-BE49-F238E27FC236}">
                <a16:creationId xmlns:a16="http://schemas.microsoft.com/office/drawing/2014/main" id="{CDFC7035-59C2-1A3A-2D41-15B9F689CEB3}"/>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7660247" y="228600"/>
            <a:ext cx="1555476" cy="4457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e 4">
            <a:extLst>
              <a:ext uri="{FF2B5EF4-FFF2-40B4-BE49-F238E27FC236}">
                <a16:creationId xmlns:a16="http://schemas.microsoft.com/office/drawing/2014/main" id="{1412D199-A493-2A50-8C19-0178F6F71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2506" y="840844"/>
            <a:ext cx="5049812" cy="557519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CE5193F-E041-D3AC-0826-50C5A855436D}"/>
              </a:ext>
            </a:extLst>
          </p:cNvPr>
          <p:cNvSpPr txBox="1"/>
          <p:nvPr/>
        </p:nvSpPr>
        <p:spPr>
          <a:xfrm>
            <a:off x="474040" y="3427198"/>
            <a:ext cx="5238880" cy="2282810"/>
          </a:xfrm>
          <a:prstGeom prst="rect">
            <a:avLst/>
          </a:prstGeom>
          <a:noFill/>
        </p:spPr>
        <p:txBody>
          <a:bodyPr wrap="square" lIns="91440" tIns="45720" rIns="91440" bIns="45720" rtlCol="0" anchor="t">
            <a:normAutofit fontScale="95500"/>
          </a:bodyPr>
          <a:lstStyle/>
          <a:p>
            <a:pPr marL="257175" indent="-257175">
              <a:buFont typeface="Arial" panose="020B0604020202020204" pitchFamily="34" charset="0"/>
              <a:buChar char="•"/>
            </a:pPr>
            <a:r>
              <a:rPr lang="en-US" dirty="0"/>
              <a:t>Allows for the interrogation of each ancestry segment separately.</a:t>
            </a:r>
          </a:p>
          <a:p>
            <a:pPr marL="213995" indent="-213995">
              <a:buFont typeface="Arial" panose="020B0604020202020204" pitchFamily="34" charset="0"/>
              <a:buChar char="•"/>
            </a:pPr>
            <a:r>
              <a:rPr lang="en-US" dirty="0"/>
              <a:t>These separate ancestry-specific GWAS can then be meta-analyzed.</a:t>
            </a:r>
            <a:endParaRPr lang="en-US" dirty="0">
              <a:cs typeface="Poppins" panose="02110004020202020204"/>
            </a:endParaRPr>
          </a:p>
          <a:p>
            <a:pPr marL="213995" indent="-213995">
              <a:buFont typeface="Arial" panose="020B0604020202020204" pitchFamily="34" charset="0"/>
              <a:buChar char="•"/>
            </a:pPr>
            <a:r>
              <a:rPr lang="en-US" dirty="0"/>
              <a:t>Increased the power to detect novel signals that differ in allele frequencies between populations.</a:t>
            </a:r>
            <a:endParaRPr lang="en-US" dirty="0">
              <a:cs typeface="Poppins" panose="02110004020202020204"/>
            </a:endParaRPr>
          </a:p>
        </p:txBody>
      </p:sp>
      <p:pic>
        <p:nvPicPr>
          <p:cNvPr id="13" name="Picture 12" descr="A screenshot of a website&#10;&#10;AI-generated content may be incorrect.">
            <a:extLst>
              <a:ext uri="{FF2B5EF4-FFF2-40B4-BE49-F238E27FC236}">
                <a16:creationId xmlns:a16="http://schemas.microsoft.com/office/drawing/2014/main" id="{242B9FD7-AAC9-A1A5-3DDC-A482E8118C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732" y="261290"/>
            <a:ext cx="5572997" cy="291960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B97A03-177A-5DD3-484E-13C1B8C1B8FE}"/>
              </a:ext>
            </a:extLst>
          </p:cNvPr>
          <p:cNvPicPr>
            <a:picLocks noChangeAspect="1"/>
          </p:cNvPicPr>
          <p:nvPr/>
        </p:nvPicPr>
        <p:blipFill>
          <a:blip r:embed="rId2"/>
          <a:stretch>
            <a:fillRect/>
          </a:stretch>
        </p:blipFill>
        <p:spPr>
          <a:xfrm>
            <a:off x="5509429" y="1283125"/>
            <a:ext cx="6009155" cy="2697608"/>
          </a:xfrm>
          <a:prstGeom prst="rect">
            <a:avLst/>
          </a:prstGeom>
        </p:spPr>
      </p:pic>
      <p:sp>
        <p:nvSpPr>
          <p:cNvPr id="3" name="TextBox 2">
            <a:extLst>
              <a:ext uri="{FF2B5EF4-FFF2-40B4-BE49-F238E27FC236}">
                <a16:creationId xmlns:a16="http://schemas.microsoft.com/office/drawing/2014/main" id="{05BDC78B-07D4-9C7C-EF77-60D10C151605}"/>
              </a:ext>
            </a:extLst>
          </p:cNvPr>
          <p:cNvSpPr txBox="1"/>
          <p:nvPr/>
        </p:nvSpPr>
        <p:spPr>
          <a:xfrm>
            <a:off x="5758173" y="4247518"/>
            <a:ext cx="5511666" cy="1134322"/>
          </a:xfrm>
          <a:prstGeom prst="rect">
            <a:avLst/>
          </a:prstGeom>
          <a:noFill/>
        </p:spPr>
        <p:txBody>
          <a:bodyPr wrap="square" rtlCol="0">
            <a:normAutofit fontScale="94501"/>
          </a:bodyPr>
          <a:lstStyle/>
          <a:p>
            <a:r>
              <a:rPr lang="en-US" dirty="0"/>
              <a:t>rs12777823 achieved </a:t>
            </a:r>
            <a:r>
              <a:rPr lang="en-US" i="1" dirty="0"/>
              <a:t>p-values</a:t>
            </a:r>
            <a:r>
              <a:rPr lang="en-US" dirty="0"/>
              <a:t> of 2.2E−6 in the African tract and 8.3E−6 in the meta-analysis. The </a:t>
            </a:r>
            <a:r>
              <a:rPr lang="en-US" i="1" dirty="0"/>
              <a:t>VKORC1</a:t>
            </a:r>
            <a:r>
              <a:rPr lang="en-US" dirty="0"/>
              <a:t> variant, rs9923231, achieved </a:t>
            </a:r>
            <a:r>
              <a:rPr lang="en-US" i="1" dirty="0"/>
              <a:t>p-values</a:t>
            </a:r>
            <a:r>
              <a:rPr lang="en-US" dirty="0"/>
              <a:t> of 2E−3 in the African tract and 4E−3 in the meta-analysis.</a:t>
            </a:r>
          </a:p>
        </p:txBody>
      </p:sp>
      <p:pic>
        <p:nvPicPr>
          <p:cNvPr id="4" name="Picture 3">
            <a:extLst>
              <a:ext uri="{FF2B5EF4-FFF2-40B4-BE49-F238E27FC236}">
                <a16:creationId xmlns:a16="http://schemas.microsoft.com/office/drawing/2014/main" id="{A6823677-B9C1-CF9D-6231-A8D8C85424BF}"/>
              </a:ext>
            </a:extLst>
          </p:cNvPr>
          <p:cNvPicPr>
            <a:picLocks noChangeAspect="1"/>
          </p:cNvPicPr>
          <p:nvPr/>
        </p:nvPicPr>
        <p:blipFill>
          <a:blip r:embed="rId3"/>
          <a:stretch>
            <a:fillRect/>
          </a:stretch>
        </p:blipFill>
        <p:spPr>
          <a:xfrm>
            <a:off x="670367" y="750349"/>
            <a:ext cx="4171982" cy="4860658"/>
          </a:xfrm>
          <a:prstGeom prst="rect">
            <a:avLst/>
          </a:prstGeom>
        </p:spPr>
      </p:pic>
      <p:sp>
        <p:nvSpPr>
          <p:cNvPr id="5" name="TextBox 4">
            <a:extLst>
              <a:ext uri="{FF2B5EF4-FFF2-40B4-BE49-F238E27FC236}">
                <a16:creationId xmlns:a16="http://schemas.microsoft.com/office/drawing/2014/main" id="{5174E497-FDA9-2751-6DDA-89A784C9A174}"/>
              </a:ext>
            </a:extLst>
          </p:cNvPr>
          <p:cNvSpPr txBox="1"/>
          <p:nvPr/>
        </p:nvSpPr>
        <p:spPr>
          <a:xfrm>
            <a:off x="1015053" y="5914617"/>
            <a:ext cx="3690013" cy="349022"/>
          </a:xfrm>
          <a:prstGeom prst="rect">
            <a:avLst/>
          </a:prstGeom>
          <a:noFill/>
        </p:spPr>
        <p:txBody>
          <a:bodyPr wrap="square" rtlCol="0">
            <a:normAutofit fontScale="94501"/>
          </a:bodyPr>
          <a:lstStyle/>
          <a:p>
            <a:r>
              <a:rPr lang="en-US" i="1" dirty="0"/>
              <a:t>Lancet</a:t>
            </a:r>
            <a:r>
              <a:rPr lang="en-US" dirty="0"/>
              <a:t>. 2013 Aug31;382(9894):790-6</a:t>
            </a:r>
          </a:p>
        </p:txBody>
      </p:sp>
      <p:sp>
        <p:nvSpPr>
          <p:cNvPr id="6" name="TextBox 5">
            <a:extLst>
              <a:ext uri="{FF2B5EF4-FFF2-40B4-BE49-F238E27FC236}">
                <a16:creationId xmlns:a16="http://schemas.microsoft.com/office/drawing/2014/main" id="{F407E683-3F6C-2FDE-4137-20000B19D795}"/>
              </a:ext>
            </a:extLst>
          </p:cNvPr>
          <p:cNvSpPr txBox="1"/>
          <p:nvPr/>
        </p:nvSpPr>
        <p:spPr>
          <a:xfrm>
            <a:off x="5985672" y="5914617"/>
            <a:ext cx="4939480" cy="349022"/>
          </a:xfrm>
          <a:prstGeom prst="rect">
            <a:avLst/>
          </a:prstGeom>
          <a:noFill/>
        </p:spPr>
        <p:txBody>
          <a:bodyPr wrap="square" rtlCol="0">
            <a:normAutofit fontScale="94501"/>
          </a:bodyPr>
          <a:lstStyle/>
          <a:p>
            <a:r>
              <a:rPr lang="en-US" i="1" dirty="0"/>
              <a:t>Am J Hum Genet</a:t>
            </a:r>
            <a:r>
              <a:rPr lang="en-US" dirty="0"/>
              <a:t>. 2025 Nov 6;112(11):2708-2719</a:t>
            </a:r>
          </a:p>
        </p:txBody>
      </p:sp>
      <p:sp>
        <p:nvSpPr>
          <p:cNvPr id="7" name="TextBox 6">
            <a:extLst>
              <a:ext uri="{FF2B5EF4-FFF2-40B4-BE49-F238E27FC236}">
                <a16:creationId xmlns:a16="http://schemas.microsoft.com/office/drawing/2014/main" id="{BCFD5524-5F70-B4B6-D976-A0BEDB59865B}"/>
              </a:ext>
            </a:extLst>
          </p:cNvPr>
          <p:cNvSpPr txBox="1"/>
          <p:nvPr/>
        </p:nvSpPr>
        <p:spPr>
          <a:xfrm>
            <a:off x="1686654" y="228600"/>
            <a:ext cx="2346811" cy="436278"/>
          </a:xfrm>
          <a:prstGeom prst="rect">
            <a:avLst/>
          </a:prstGeom>
          <a:noFill/>
        </p:spPr>
        <p:txBody>
          <a:bodyPr wrap="none" rtlCol="0">
            <a:normAutofit fontScale="94501"/>
          </a:bodyPr>
          <a:lstStyle/>
          <a:p>
            <a:r>
              <a:rPr lang="en-US" sz="2400" dirty="0">
                <a:solidFill>
                  <a:srgbClr val="C00000"/>
                </a:solidFill>
              </a:rPr>
              <a:t>Traditional GWAS</a:t>
            </a:r>
          </a:p>
        </p:txBody>
      </p:sp>
      <p:sp>
        <p:nvSpPr>
          <p:cNvPr id="8" name="TextBox 7">
            <a:extLst>
              <a:ext uri="{FF2B5EF4-FFF2-40B4-BE49-F238E27FC236}">
                <a16:creationId xmlns:a16="http://schemas.microsoft.com/office/drawing/2014/main" id="{229FD924-4CB5-DB69-1CD3-D6830533F8A1}"/>
              </a:ext>
            </a:extLst>
          </p:cNvPr>
          <p:cNvSpPr txBox="1"/>
          <p:nvPr/>
        </p:nvSpPr>
        <p:spPr>
          <a:xfrm>
            <a:off x="7282006" y="401327"/>
            <a:ext cx="2225441" cy="436278"/>
          </a:xfrm>
          <a:prstGeom prst="rect">
            <a:avLst/>
          </a:prstGeom>
          <a:noFill/>
        </p:spPr>
        <p:txBody>
          <a:bodyPr wrap="none" rtlCol="0">
            <a:normAutofit fontScale="94501"/>
          </a:bodyPr>
          <a:lstStyle/>
          <a:p>
            <a:r>
              <a:rPr lang="en-US" sz="2400" dirty="0">
                <a:solidFill>
                  <a:srgbClr val="C00000"/>
                </a:solidFill>
              </a:rPr>
              <a:t>TRACTOR GWAS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latform:m4: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Local Ancestry and Model Complexity</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4 · Commit first</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800"/>
              </a:spcAft>
            </a:pPr>
            <a:r>
              <a:rPr sz="2400" b="1"/>
              <a:t>At this locus the effect is the same on every ancestry background and the allele frequencies are similar. In an admixed study of 500 people adjusted for age, sex and ten global PCs, which of global ancestry PCs alone, adding a local-ancestry covariate, and the local-ancestry interaction model detect it at p &lt; 0.05?</a:t>
            </a:r>
          </a:p>
          <a:p>
            <a:pPr>
              <a:spcAft>
                <a:spcPts val="800"/>
              </a:spcAft>
            </a:pPr>
            <a:r>
              <a:rPr sz="2400" b="0"/>
              <a:t>A.  All three</a:t>
            </a:r>
          </a:p>
          <a:p>
            <a:pPr>
              <a:spcAft>
                <a:spcPts val="800"/>
              </a:spcAft>
            </a:pPr>
            <a:r>
              <a:rPr sz="2400" b="0"/>
              <a:t>B.  Global PCs and the local-ancestry covariate, but not the interaction model</a:t>
            </a:r>
          </a:p>
          <a:p>
            <a:pPr>
              <a:spcAft>
                <a:spcPts val="800"/>
              </a:spcAft>
            </a:pPr>
            <a:r>
              <a:rPr sz="2400" b="0"/>
              <a:t>C.  Global ancestry PCs only</a:t>
            </a:r>
          </a:p>
          <a:p>
            <a:pPr>
              <a:spcAft>
                <a:spcPts val="800"/>
              </a:spcAft>
            </a:pPr>
            <a:r>
              <a:rPr sz="2400" b="0"/>
              <a:t>D.  None of them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latform:m4: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Local Ancestry and Model Complexity: the answer</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4 · Reveal</a:t>
            </a:r>
          </a:p>
        </p:txBody>
      </p:sp>
      <p:sp>
        <p:nvSpPr>
          <p:cNvPr id="4" name="TextBox 3"/>
          <p:cNvSpPr txBox="1"/>
          <p:nvPr/>
        </p:nvSpPr>
        <p:spPr>
          <a:xfrm>
            <a:off x="841248" y="2240280"/>
            <a:ext cx="10515600" cy="3977639"/>
          </a:xfrm>
          <a:prstGeom prst="rect">
            <a:avLst/>
          </a:prstGeom>
          <a:noFill/>
        </p:spPr>
        <p:txBody>
          <a:bodyPr wrap="square" lIns="0" tIns="0" rIns="0" bIns="0" anchor="ctr">
            <a:spAutoFit/>
          </a:bodyPr>
          <a:lstStyle/>
          <a:p>
            <a:pPr>
              <a:spcAft>
                <a:spcPts val="1200"/>
              </a:spcAft>
            </a:pPr>
            <a:r>
              <a:rPr sz="2800" b="1">
                <a:solidFill>
                  <a:schemeClr val="accent2"/>
                </a:solidFill>
              </a:rPr>
              <a:t>Answer</a:t>
            </a:r>
          </a:p>
          <a:p>
            <a:pPr>
              <a:spcAft>
                <a:spcPts val="1200"/>
              </a:spcAft>
            </a:pPr>
            <a:r>
              <a:rPr sz="4000" b="1">
                <a:solidFill>
                  <a:schemeClr val="accent1"/>
                </a:solidFill>
              </a:rPr>
              <a:t>Global PCs and the local-ancestry covariate, but not the interaction model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latform:m4: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4: Does each model detect the locus?</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4 · Reveal</a:t>
            </a:r>
          </a:p>
        </p:txBody>
      </p:sp>
      <p:pic>
        <p:nvPicPr>
          <p:cNvPr id="4" name="Picture 3" descr="04-complexity-power--does-each-model-detect-the-locus.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latform:m4:1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4: Power by model and sample size</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4 · Reveal</a:t>
            </a:r>
          </a:p>
        </p:txBody>
      </p:sp>
      <p:pic>
        <p:nvPicPr>
          <p:cNvPr id="4" name="Picture 3" descr="04-complexity-power--power-by-model-and-sample-size.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platform:m5:2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Polygenic Scores Across Ancestries</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5 · Commit first</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800"/>
              </a:spcAft>
            </a:pPr>
            <a:r>
              <a:rPr sz="2400" b="1"/>
              <a:t>Three polygenic scores are trained on a cohort that is 59% European, 23% African and 18% Admixed American ancestry. At the starting shrinkage, which score is best calibrated in the smallest ancestry group?</a:t>
            </a:r>
          </a:p>
          <a:p>
            <a:pPr>
              <a:spcAft>
                <a:spcPts val="800"/>
              </a:spcAft>
            </a:pPr>
            <a:r>
              <a:rPr sz="2400" b="0"/>
              <a:t>A.  The pooled-cohort PRS</a:t>
            </a:r>
          </a:p>
          <a:p>
            <a:pPr>
              <a:spcAft>
                <a:spcPts val="800"/>
              </a:spcAft>
            </a:pPr>
            <a:r>
              <a:rPr sz="2400" b="0"/>
              <a:t>B.  The ancestry-aware PRS</a:t>
            </a:r>
          </a:p>
          <a:p>
            <a:pPr>
              <a:spcAft>
                <a:spcPts val="800"/>
              </a:spcAft>
            </a:pPr>
            <a:r>
              <a:rPr sz="2400" b="0"/>
              <a:t>C.  The pooled PRS under strong shrinkage</a:t>
            </a:r>
          </a:p>
          <a:p>
            <a:pPr>
              <a:spcAft>
                <a:spcPts val="800"/>
              </a:spcAft>
            </a:pPr>
            <a:r>
              <a:rPr sz="2400" b="0"/>
              <a:t>D.  They are equally calibrated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platform:m5:2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Polygenic Scores Across Ancestries: the answer</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5 · Reveal</a:t>
            </a:r>
          </a:p>
        </p:txBody>
      </p:sp>
      <p:sp>
        <p:nvSpPr>
          <p:cNvPr id="4" name="TextBox 3"/>
          <p:cNvSpPr txBox="1"/>
          <p:nvPr/>
        </p:nvSpPr>
        <p:spPr>
          <a:xfrm>
            <a:off x="841248" y="2240280"/>
            <a:ext cx="10515600" cy="3977639"/>
          </a:xfrm>
          <a:prstGeom prst="rect">
            <a:avLst/>
          </a:prstGeom>
          <a:noFill/>
        </p:spPr>
        <p:txBody>
          <a:bodyPr wrap="square" lIns="0" tIns="0" rIns="0" bIns="0" anchor="ctr">
            <a:spAutoFit/>
          </a:bodyPr>
          <a:lstStyle/>
          <a:p>
            <a:pPr>
              <a:spcAft>
                <a:spcPts val="1200"/>
              </a:spcAft>
            </a:pPr>
            <a:r>
              <a:rPr sz="2800" b="1">
                <a:solidFill>
                  <a:schemeClr val="accent2"/>
                </a:solidFill>
              </a:rPr>
              <a:t>Answer</a:t>
            </a:r>
          </a:p>
          <a:p>
            <a:pPr>
              <a:spcAft>
                <a:spcPts val="1200"/>
              </a:spcAft>
            </a:pPr>
            <a:r>
              <a:rPr sz="4000" b="1">
                <a:solidFill>
                  <a:schemeClr val="accent1"/>
                </a:solidFill>
              </a:rPr>
              <a:t>The ancestry-aware PRS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platform:m5:2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5: Calibration at the starting shrinkage</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5 · Reveal</a:t>
            </a:r>
          </a:p>
        </p:txBody>
      </p:sp>
      <p:pic>
        <p:nvPicPr>
          <p:cNvPr id="4" name="Picture 3" descr="05-regularization-heterogeneity--calibration-at-the-starting-shrinkage.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platform:m5: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5: Calibration at the strongest shrinkage</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5 · Reveal</a:t>
            </a:r>
          </a:p>
        </p:txBody>
      </p:sp>
      <p:pic>
        <p:nvPicPr>
          <p:cNvPr id="4" name="Picture 3" descr="05-regularization-heterogeneity--calibration-at-the-strongest-shrinkage.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243205"/>
            <a:ext cx="11864340" cy="1325563"/>
          </a:xfrm>
        </p:spPr>
        <p:txBody>
          <a:bodyPr/>
          <a:lstStyle/>
          <a:p>
            <a:r>
              <a:t>Polygenic Risk Scores: Cohorts used to inform PRS</a:t>
            </a:r>
          </a:p>
        </p:txBody>
      </p:sp>
      <p:sp>
        <p:nvSpPr>
          <p:cNvPr id="129" name="Google Shape;129;p20"/>
          <p:cNvSpPr txBox="1">
            <a:spLocks noGrp="1"/>
          </p:cNvSpPr>
          <p:nvPr>
            <p:ph type="body" idx="1"/>
          </p:nvPr>
        </p:nvSpPr>
        <p:spPr>
          <a:xfrm>
            <a:off x="106035" y="1562100"/>
            <a:ext cx="6647786" cy="4876125"/>
          </a:xfrm>
          <a:prstGeom prst="rect">
            <a:avLst/>
          </a:prstGeom>
        </p:spPr>
        <p:txBody>
          <a:bodyPr spcFirstLastPara="1" vert="horz" wrap="square" lIns="121900" tIns="60933" rIns="121900" bIns="60933" rtlCol="0" anchor="t" anchorCtr="0">
            <a:noAutofit/>
          </a:bodyPr>
          <a:lstStyle>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492760" lvl="0" indent="-285750" algn="l" rtl="0">
              <a:spcBef>
                <a:spcPts val="853"/>
              </a:spcBef>
              <a:spcAft>
                <a:spcPts val="0"/>
              </a:spcAft>
              <a:buSzPts val="1150"/>
              <a:buChar char="•"/>
            </a:pPr>
            <a:r>
              <a:rPr lang="en" sz="2000" dirty="0"/>
              <a:t>PRS models have historically been non-transferable </a:t>
            </a:r>
            <a:r>
              <a:rPr lang="en" sz="2000"/>
              <a:t>between populations</a:t>
            </a:r>
            <a:endParaRPr lang="en-US" sz="2000"/>
          </a:p>
          <a:p>
            <a:pPr marL="492760" lvl="0" indent="-285750" algn="l" rtl="0">
              <a:spcBef>
                <a:spcPts val="853"/>
              </a:spcBef>
              <a:spcAft>
                <a:spcPts val="0"/>
              </a:spcAft>
              <a:buSzPts val="1150"/>
              <a:buChar char="•"/>
            </a:pPr>
            <a:r>
              <a:rPr lang="en" sz="2000" dirty="0"/>
              <a:t>Several studies used a multi-ancestry GWAS to </a:t>
            </a:r>
            <a:r>
              <a:rPr lang="en" sz="2000"/>
              <a:t>inform their PRS models to address this issue</a:t>
            </a:r>
            <a:endParaRPr sz="2000"/>
          </a:p>
          <a:p>
            <a:pPr marL="492760" lvl="0" indent="-285750" algn="l" rtl="0">
              <a:spcBef>
                <a:spcPts val="853"/>
              </a:spcBef>
              <a:spcAft>
                <a:spcPts val="0"/>
              </a:spcAft>
              <a:buSzPts val="1150"/>
              <a:buChar char="•"/>
            </a:pPr>
            <a:r>
              <a:rPr lang="en" sz="2000" dirty="0"/>
              <a:t>One PRS on CHD built from a cohort of 1.1 million people found that the multi-ancestry PRS models outperformed the ancestry-specific PRS models by a large margin for all groups except </a:t>
            </a:r>
            <a:r>
              <a:rPr lang="en" sz="2000"/>
              <a:t>for AAs</a:t>
            </a:r>
            <a:endParaRPr sz="2000"/>
          </a:p>
          <a:p>
            <a:pPr marL="492760" lvl="0" indent="-285750" algn="l" rtl="0">
              <a:spcBef>
                <a:spcPts val="853"/>
              </a:spcBef>
              <a:spcAft>
                <a:spcPts val="0"/>
              </a:spcAft>
              <a:buSzPts val="1150"/>
              <a:buChar char="•"/>
            </a:pPr>
            <a:r>
              <a:rPr lang="en" sz="2000" dirty="0"/>
              <a:t>The multi-ancestry cohort used by this study was still </a:t>
            </a:r>
            <a:r>
              <a:rPr lang="en" sz="2000"/>
              <a:t>heavily biased</a:t>
            </a:r>
            <a:endParaRPr sz="2000"/>
          </a:p>
          <a:p>
            <a:pPr marL="1218565" lvl="1" indent="-401955" algn="l" rtl="0">
              <a:spcBef>
                <a:spcPts val="0"/>
              </a:spcBef>
              <a:spcAft>
                <a:spcPts val="0"/>
              </a:spcAft>
              <a:buSzPts val="1150"/>
              <a:buFont typeface="Arial"/>
              <a:buChar char="•"/>
            </a:pPr>
            <a:r>
              <a:rPr lang="en" sz="2000"/>
              <a:t>Only 31K AFR patients (~3% of cohort) and not all were AAs</a:t>
            </a:r>
            <a:endParaRPr sz="2000"/>
          </a:p>
          <a:p>
            <a:pPr marL="492760" lvl="0" indent="-285750" algn="l" rtl="0">
              <a:spcBef>
                <a:spcPts val="853"/>
              </a:spcBef>
              <a:spcAft>
                <a:spcPts val="0"/>
              </a:spcAft>
              <a:buSzPts val="1150"/>
              <a:buChar char="•"/>
            </a:pPr>
            <a:r>
              <a:rPr lang="en" sz="2000" dirty="0"/>
              <a:t>Highlights the need for more studies comparing PRS models built on different </a:t>
            </a:r>
            <a:r>
              <a:rPr lang="en" sz="2000"/>
              <a:t>cohorts for AAs.</a:t>
            </a:r>
            <a:endParaRPr lang="en" sz="2000" dirty="0"/>
          </a:p>
        </p:txBody>
      </p:sp>
      <p:sp>
        <p:nvSpPr>
          <p:cNvPr id="131" name="Google Shape;131;p20"/>
          <p:cNvSpPr txBox="1"/>
          <p:nvPr/>
        </p:nvSpPr>
        <p:spPr>
          <a:xfrm>
            <a:off x="7760474" y="6264654"/>
            <a:ext cx="3756366" cy="395225"/>
          </a:xfrm>
          <a:prstGeom prst="rect">
            <a:avLst/>
          </a:prstGeom>
          <a:noFill/>
          <a:ln>
            <a:noFill/>
          </a:ln>
        </p:spPr>
        <p:txBody>
          <a:bodyPr spcFirstLastPara="1" wrap="square" lIns="121900" tIns="121900" rIns="121900" bIns="121900" anchor="t" anchorCtr="0">
            <a:normAutofit fontScale="962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067" dirty="0">
                <a:solidFill>
                  <a:schemeClr val="dk1"/>
                </a:solidFill>
              </a:rPr>
              <a:t>Smith et al, </a:t>
            </a:r>
            <a:r>
              <a:rPr lang="en" sz="1067" dirty="0" err="1">
                <a:solidFill>
                  <a:schemeClr val="dk1"/>
                </a:solidFill>
              </a:rPr>
              <a:t>MedRxiv</a:t>
            </a:r>
            <a:r>
              <a:rPr lang="en" sz="1067" dirty="0">
                <a:solidFill>
                  <a:schemeClr val="dk1"/>
                </a:solidFill>
              </a:rPr>
              <a:t> (2024)</a:t>
            </a:r>
            <a:endParaRPr sz="1067" dirty="0">
              <a:solidFill>
                <a:schemeClr val="dk1"/>
              </a:solidFill>
            </a:endParaRPr>
          </a:p>
        </p:txBody>
      </p:sp>
      <p:grpSp>
        <p:nvGrpSpPr>
          <p:cNvPr id="4" name="Group 3">
            <a:extLst>
              <a:ext uri="{FF2B5EF4-FFF2-40B4-BE49-F238E27FC236}">
                <a16:creationId xmlns:a16="http://schemas.microsoft.com/office/drawing/2014/main" id="{56A28F92-C6CF-A806-0D42-529160E74479}"/>
              </a:ext>
            </a:extLst>
          </p:cNvPr>
          <p:cNvGrpSpPr/>
          <p:nvPr/>
        </p:nvGrpSpPr>
        <p:grpSpPr>
          <a:xfrm>
            <a:off x="6921462" y="1965985"/>
            <a:ext cx="4894754" cy="4060237"/>
            <a:chOff x="6799542" y="1783105"/>
            <a:chExt cx="4894754" cy="4060237"/>
          </a:xfrm>
        </p:grpSpPr>
        <p:pic>
          <p:nvPicPr>
            <p:cNvPr id="130" name="Google Shape;130;p20"/>
            <p:cNvPicPr preferRelativeResize="0"/>
            <p:nvPr/>
          </p:nvPicPr>
          <p:blipFill>
            <a:blip r:embed="rId3">
              <a:alphaModFix/>
            </a:blip>
            <a:stretch>
              <a:fillRect/>
            </a:stretch>
          </p:blipFill>
          <p:spPr>
            <a:xfrm>
              <a:off x="6799542" y="1783105"/>
              <a:ext cx="4894754" cy="3659617"/>
            </a:xfrm>
            <a:prstGeom prst="rect">
              <a:avLst/>
            </a:prstGeom>
            <a:noFill/>
            <a:ln>
              <a:noFill/>
            </a:ln>
          </p:spPr>
        </p:pic>
        <p:sp>
          <p:nvSpPr>
            <p:cNvPr id="132" name="Google Shape;132;p20"/>
            <p:cNvSpPr txBox="1"/>
            <p:nvPr/>
          </p:nvSpPr>
          <p:spPr>
            <a:xfrm>
              <a:off x="8113758" y="5442710"/>
              <a:ext cx="2588929" cy="400632"/>
            </a:xfrm>
            <a:prstGeom prst="rect">
              <a:avLst/>
            </a:prstGeom>
            <a:noFill/>
            <a:ln>
              <a:noFill/>
            </a:ln>
          </p:spPr>
          <p:txBody>
            <a:bodyPr spcFirstLastPara="1" wrap="square" lIns="121900" tIns="121900" rIns="121900" bIns="121900" anchor="t" anchorCtr="0">
              <a:normAutofit fontScale="737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267">
                  <a:solidFill>
                    <a:schemeClr val="dk1"/>
                  </a:solidFill>
                </a:rPr>
                <a:t>Ancestry Group</a:t>
              </a:r>
              <a:endParaRPr sz="2267">
                <a:solidFill>
                  <a:schemeClr val="dk1"/>
                </a:solidFil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886008D-3808-06F6-3C26-83B1148630D0}"/>
              </a:ext>
            </a:extLst>
          </p:cNvPr>
          <p:cNvSpPr>
            <a:spLocks noGrp="1"/>
          </p:cNvSpPr>
          <p:nvPr>
            <p:ph type="body" idx="1"/>
          </p:nvPr>
        </p:nvSpPr>
        <p:spPr>
          <a:xfrm>
            <a:off x="8065802" y="228600"/>
            <a:ext cx="4000089" cy="5858962"/>
          </a:xfrm>
        </p:spPr>
        <p:txBody>
          <a:bodyPr>
            <a:normAutofit fontScale="93422"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PRS was created with trait-specific GWAS across ancestries.</a:t>
            </a:r>
          </a:p>
          <a:p>
            <a:r>
              <a:rPr lang="en-US" dirty="0"/>
              <a:t>Score performed well across the entire cohort. </a:t>
            </a:r>
          </a:p>
          <a:p>
            <a:pPr lvl="1"/>
            <a:r>
              <a:rPr lang="en-US" dirty="0" err="1"/>
              <a:t>GPS</a:t>
            </a:r>
            <a:r>
              <a:rPr lang="en-US" baseline="-25000" dirty="0" err="1"/>
              <a:t>Mult</a:t>
            </a:r>
            <a:r>
              <a:rPr lang="en-US" dirty="0"/>
              <a:t> was also associated with incident CAD events (hazard ratio per standard deviation 1.73, 95% confidence interval 1.70–1.76, </a:t>
            </a:r>
            <a:r>
              <a:rPr lang="en-US" i="1" dirty="0"/>
              <a:t>P</a:t>
            </a:r>
            <a:r>
              <a:rPr lang="en-US" dirty="0"/>
              <a:t> &lt; 0.001)</a:t>
            </a:r>
          </a:p>
        </p:txBody>
      </p:sp>
      <p:pic>
        <p:nvPicPr>
          <p:cNvPr id="5" name="Picture 4">
            <a:extLst>
              <a:ext uri="{FF2B5EF4-FFF2-40B4-BE49-F238E27FC236}">
                <a16:creationId xmlns:a16="http://schemas.microsoft.com/office/drawing/2014/main" id="{F9CBE6E6-0E2B-E60E-577D-81F962BCDEEC}"/>
              </a:ext>
            </a:extLst>
          </p:cNvPr>
          <p:cNvPicPr>
            <a:picLocks noChangeAspect="1"/>
          </p:cNvPicPr>
          <p:nvPr/>
        </p:nvPicPr>
        <p:blipFill>
          <a:blip r:embed="rId2"/>
          <a:stretch>
            <a:fillRect/>
          </a:stretch>
        </p:blipFill>
        <p:spPr>
          <a:xfrm>
            <a:off x="793861" y="228600"/>
            <a:ext cx="7219663" cy="5552878"/>
          </a:xfrm>
          <a:prstGeom prst="rect">
            <a:avLst/>
          </a:prstGeom>
        </p:spPr>
      </p:pic>
      <p:sp>
        <p:nvSpPr>
          <p:cNvPr id="14" name="TextBox 13">
            <a:extLst>
              <a:ext uri="{FF2B5EF4-FFF2-40B4-BE49-F238E27FC236}">
                <a16:creationId xmlns:a16="http://schemas.microsoft.com/office/drawing/2014/main" id="{F3F5DD65-9DC0-1ED9-2C5A-4610084280B2}"/>
              </a:ext>
            </a:extLst>
          </p:cNvPr>
          <p:cNvSpPr txBox="1"/>
          <p:nvPr/>
        </p:nvSpPr>
        <p:spPr>
          <a:xfrm>
            <a:off x="679320" y="5920573"/>
            <a:ext cx="5062319" cy="343066"/>
          </a:xfrm>
          <a:prstGeom prst="rect">
            <a:avLst/>
          </a:prstGeom>
          <a:noFill/>
        </p:spPr>
        <p:txBody>
          <a:bodyPr wrap="none" rtlCol="0">
            <a:normAutofit fontScale="92888"/>
          </a:bodyPr>
          <a:lstStyle/>
          <a:p>
            <a:r>
              <a:rPr lang="en-US" i="1" u="sng" dirty="0">
                <a:hlinkClick r:id="rId3"/>
              </a:rPr>
              <a:t>Nature Medicine</a:t>
            </a:r>
            <a:r>
              <a:rPr lang="en-US" dirty="0"/>
              <a:t> </a:t>
            </a:r>
            <a:r>
              <a:rPr lang="en-US" b="1" dirty="0"/>
              <a:t>volume 29</a:t>
            </a:r>
            <a:r>
              <a:rPr lang="en-US" dirty="0"/>
              <a:t>, pages 1793–1803 (2023)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platform:m6:2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Scalable Inference and Who Can Afford It</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6 · Commit first</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800"/>
              </a:spcAft>
            </a:pPr>
            <a:r>
              <a:rPr sz="2400" b="1"/>
              <a:t>Three genome-wide scans are queued on a Bridges-2 RM node (128 cores) for 8 million variants in 250,000 people: a standard GWAS scan, a local ancestry-aware scan (4x the work), and a permutation scan (ancestry interaction with 1,000 permutations, 4,000x). Which finish within one week?</a:t>
            </a:r>
          </a:p>
          <a:p>
            <a:pPr>
              <a:spcAft>
                <a:spcPts val="800"/>
              </a:spcAft>
            </a:pPr>
            <a:r>
              <a:rPr sz="2400" b="0"/>
              <a:t>A.  All three scans</a:t>
            </a:r>
          </a:p>
          <a:p>
            <a:pPr>
              <a:spcAft>
                <a:spcPts val="800"/>
              </a:spcAft>
            </a:pPr>
            <a:r>
              <a:rPr sz="2400" b="0"/>
              <a:t>B.  The standard GWAS scan and the local ancestry-aware scan, but not the permutation scan</a:t>
            </a:r>
          </a:p>
          <a:p>
            <a:pPr>
              <a:spcAft>
                <a:spcPts val="800"/>
              </a:spcAft>
            </a:pPr>
            <a:r>
              <a:rPr sz="2400" b="0"/>
              <a:t>C.  The standard GWAS scan only</a:t>
            </a:r>
          </a:p>
          <a:p>
            <a:pPr>
              <a:spcAft>
                <a:spcPts val="800"/>
              </a:spcAft>
            </a:pPr>
            <a:r>
              <a:rPr sz="2400" b="0"/>
              <a:t>D.  None of them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platform:m6:2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Scalable Inference and Who Can Afford It: the answer</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6 · Reveal</a:t>
            </a:r>
          </a:p>
        </p:txBody>
      </p:sp>
      <p:sp>
        <p:nvSpPr>
          <p:cNvPr id="4" name="TextBox 3"/>
          <p:cNvSpPr txBox="1"/>
          <p:nvPr/>
        </p:nvSpPr>
        <p:spPr>
          <a:xfrm>
            <a:off x="841248" y="2240280"/>
            <a:ext cx="10515600" cy="3977639"/>
          </a:xfrm>
          <a:prstGeom prst="rect">
            <a:avLst/>
          </a:prstGeom>
          <a:noFill/>
        </p:spPr>
        <p:txBody>
          <a:bodyPr wrap="square" lIns="0" tIns="0" rIns="0" bIns="0" anchor="ctr">
            <a:spAutoFit/>
          </a:bodyPr>
          <a:lstStyle/>
          <a:p>
            <a:pPr>
              <a:spcAft>
                <a:spcPts val="1200"/>
              </a:spcAft>
            </a:pPr>
            <a:r>
              <a:rPr sz="2800" b="1">
                <a:solidFill>
                  <a:schemeClr val="accent2"/>
                </a:solidFill>
              </a:rPr>
              <a:t>Answer</a:t>
            </a:r>
          </a:p>
          <a:p>
            <a:pPr>
              <a:spcAft>
                <a:spcPts val="1200"/>
              </a:spcAft>
            </a:pPr>
            <a:r>
              <a:rPr sz="4000" b="1">
                <a:solidFill>
                  <a:schemeClr val="accent1"/>
                </a:solidFill>
              </a:rPr>
              <a:t>The standard GWAS scan and the local ancestry-aware scan, but not the permutation scan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platform:m6:2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6: One-week feasibility on one RM node</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6 · Reveal</a:t>
            </a:r>
          </a:p>
        </p:txBody>
      </p:sp>
      <p:pic>
        <p:nvPicPr>
          <p:cNvPr id="4" name="Picture 3" descr="06-scalability-equity--one-week-feasibility-on-one-rm-node.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platform:m6:2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6: One-week feasibility on one GPU node</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6 · Reveal</a:t>
            </a:r>
          </a:p>
        </p:txBody>
      </p:sp>
      <p:pic>
        <p:nvPicPr>
          <p:cNvPr id="4" name="Picture 3" descr="06-scalability-equity--one-week-feasibility-on-one-gpu-node.png"/>
          <p:cNvPicPr>
            <a:picLocks noChangeAspect="1"/>
          </p:cNvPicPr>
          <p:nvPr/>
        </p:nvPicPr>
        <p:blipFill>
          <a:blip r:embed="rId3"/>
          <a:stretch>
            <a:fillRect/>
          </a:stretch>
        </p:blipFill>
        <p:spPr>
          <a:xfrm>
            <a:off x="860420" y="2240280"/>
            <a:ext cx="10477254" cy="402335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resource:framework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Same code on CPU or GPU</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6 · Resources</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1000"/>
              </a:spcAft>
            </a:pPr>
            <a:r>
              <a:rPr sz="2800" b="1">
                <a:solidFill>
                  <a:schemeClr val="hlink"/>
                </a:solidFill>
                <a:hlinkClick r:id="rId3"/>
              </a:rPr>
              <a:t>PyTorch</a:t>
            </a:r>
            <a:r>
              <a:rPr sz="2800" b="0"/>
              <a:t>  one code path, CPU or GPU</a:t>
            </a:r>
          </a:p>
          <a:p>
            <a:pPr>
              <a:spcAft>
                <a:spcPts val="1000"/>
              </a:spcAft>
            </a:pPr>
            <a:r>
              <a:rPr sz="2800" b="1">
                <a:solidFill>
                  <a:schemeClr val="hlink"/>
                </a:solidFill>
                <a:hlinkClick r:id="rId4"/>
              </a:rPr>
              <a:t>JAX</a:t>
            </a:r>
            <a:r>
              <a:rPr sz="2800" b="0"/>
              <a:t>  compiled for CPU, GPU or TPU</a:t>
            </a:r>
          </a:p>
          <a:p>
            <a:pPr>
              <a:spcAft>
                <a:spcPts val="1000"/>
              </a:spcAft>
            </a:pPr>
            <a:r>
              <a:rPr sz="2800" b="1">
                <a:solidFill>
                  <a:schemeClr val="hlink"/>
                </a:solidFill>
                <a:hlinkClick r:id="rId5"/>
              </a:rPr>
              <a:t>CuPy · cuDF</a:t>
            </a:r>
            <a:r>
              <a:rPr sz="2800" b="0"/>
              <a:t>  NumPy and pandas on the GPU</a:t>
            </a:r>
          </a:p>
          <a:p>
            <a:pPr>
              <a:spcAft>
                <a:spcPts val="1000"/>
              </a:spcAft>
            </a:pPr>
            <a:r>
              <a:rPr sz="2800" b="1">
                <a:solidFill>
                  <a:schemeClr val="hlink"/>
                </a:solidFill>
                <a:hlinkClick r:id="rId6"/>
              </a:rPr>
              <a:t>Numba</a:t>
            </a:r>
            <a:r>
              <a:rPr sz="2800" b="0"/>
              <a:t>  Python loops on threads or CUDA</a:t>
            </a:r>
          </a:p>
          <a:p>
            <a:pPr>
              <a:spcAft>
                <a:spcPts val="1000"/>
              </a:spcAft>
            </a:pPr>
            <a:r>
              <a:rPr sz="2800" b="1">
                <a:solidFill>
                  <a:schemeClr val="hlink"/>
                </a:solidFill>
                <a:hlinkClick r:id="rId7"/>
              </a:rPr>
              <a:t>Dask</a:t>
            </a:r>
            <a:r>
              <a:rPr sz="2800" b="0"/>
              <a:t>  a laptop's cores to a cluster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resource:genetic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Genetics tools that already scale</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Module 6 · Resources</a:t>
            </a:r>
          </a:p>
        </p:txBody>
      </p:sp>
      <p:sp>
        <p:nvSpPr>
          <p:cNvPr id="4" name="TextBox 3"/>
          <p:cNvSpPr txBox="1"/>
          <p:nvPr/>
        </p:nvSpPr>
        <p:spPr>
          <a:xfrm>
            <a:off x="841248" y="2240280"/>
            <a:ext cx="10515600" cy="3977639"/>
          </a:xfrm>
          <a:prstGeom prst="rect">
            <a:avLst/>
          </a:prstGeom>
          <a:noFill/>
        </p:spPr>
        <p:txBody>
          <a:bodyPr wrap="square" lIns="0" tIns="0" rIns="0" bIns="0" anchor="t">
            <a:spAutoFit/>
          </a:bodyPr>
          <a:lstStyle/>
          <a:p>
            <a:pPr>
              <a:spcAft>
                <a:spcPts val="1000"/>
              </a:spcAft>
            </a:pPr>
            <a:r>
              <a:rPr sz="2800" b="1">
                <a:solidFill>
                  <a:schemeClr val="hlink"/>
                </a:solidFill>
                <a:hlinkClick r:id="rId3"/>
              </a:rPr>
              <a:t>PLINK 2</a:t>
            </a:r>
            <a:r>
              <a:rPr sz="2800" b="0"/>
              <a:t>  association and QC, multi-threaded</a:t>
            </a:r>
          </a:p>
          <a:p>
            <a:pPr>
              <a:spcAft>
                <a:spcPts val="1000"/>
              </a:spcAft>
            </a:pPr>
            <a:r>
              <a:rPr sz="2800" b="1">
                <a:solidFill>
                  <a:schemeClr val="hlink"/>
                </a:solidFill>
                <a:hlinkClick r:id="rId4"/>
              </a:rPr>
              <a:t>REGENIE</a:t>
            </a:r>
            <a:r>
              <a:rPr sz="2800" b="0"/>
              <a:t>  whole-genome regression, multi-threaded</a:t>
            </a:r>
          </a:p>
          <a:p>
            <a:pPr>
              <a:spcAft>
                <a:spcPts val="1000"/>
              </a:spcAft>
            </a:pPr>
            <a:r>
              <a:rPr sz="2800" b="1">
                <a:solidFill>
                  <a:schemeClr val="hlink"/>
                </a:solidFill>
                <a:hlinkClick r:id="rId5"/>
              </a:rPr>
              <a:t>Hail</a:t>
            </a:r>
            <a:r>
              <a:rPr sz="2800" b="0"/>
              <a:t>  Spark clusters; gnomAD, All of Us</a:t>
            </a:r>
          </a:p>
          <a:p>
            <a:pPr>
              <a:spcAft>
                <a:spcPts val="1000"/>
              </a:spcAft>
            </a:pPr>
            <a:r>
              <a:rPr sz="2800" b="1">
                <a:solidFill>
                  <a:schemeClr val="hlink"/>
                </a:solidFill>
                <a:hlinkClick r:id="rId6"/>
              </a:rPr>
              <a:t>tensorQTL</a:t>
            </a:r>
            <a:r>
              <a:rPr sz="2800" b="0"/>
              <a:t>  QTL mapping on GPU (PyTorch)</a:t>
            </a:r>
          </a:p>
          <a:p>
            <a:pPr>
              <a:spcAft>
                <a:spcPts val="1000"/>
              </a:spcAft>
            </a:pPr>
            <a:r>
              <a:rPr sz="2800" b="1">
                <a:solidFill>
                  <a:schemeClr val="hlink"/>
                </a:solidFill>
                <a:hlinkClick r:id="rId7"/>
              </a:rPr>
              <a:t>Parabricks</a:t>
            </a:r>
            <a:r>
              <a:rPr sz="2800" b="0"/>
              <a:t>  GPU alignment and variant calling</a:t>
            </a:r>
          </a:p>
          <a:p>
            <a:pPr>
              <a:spcAft>
                <a:spcPts val="1000"/>
              </a:spcAft>
            </a:pPr>
            <a:r>
              <a:rPr sz="2800" b="1">
                <a:solidFill>
                  <a:schemeClr val="hlink"/>
                </a:solidFill>
                <a:hlinkClick r:id="rId8"/>
              </a:rPr>
              <a:t>NSF ACCESS</a:t>
            </a:r>
            <a:r>
              <a:rPr sz="2800" b="0"/>
              <a:t>  research HPC at no cost (Bridges-2)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platform:table:2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data said: modules 1–3</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Synthesis · What the room predicted, what the data said</a:t>
            </a:r>
          </a:p>
        </p:txBody>
      </p:sp>
      <p:graphicFrame>
        <p:nvGraphicFramePr>
          <p:cNvPr id="4" name="Table 3"/>
          <p:cNvGraphicFramePr>
            <a:graphicFrameLocks noGrp="1"/>
          </p:cNvGraphicFramePr>
          <p:nvPr/>
        </p:nvGraphicFramePr>
        <p:xfrm>
          <a:off x="841248" y="2240280"/>
          <a:ext cx="10515600" cy="1828800"/>
        </p:xfrm>
        <a:graphic>
          <a:graphicData uri="http://schemas.openxmlformats.org/drawingml/2006/table">
            <a:tbl>
              <a:tblPr>
                <a:tableStyleId>{2D5ABB26-0587-4C30-8999-92F81FD0307C}</a:tableStyleId>
              </a:tblPr>
              <a:tblGrid>
                <a:gridCol w="420624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tblGrid>
              <a:tr h="457200">
                <a:tc>
                  <a:txBody>
                    <a:bodyPr/>
                    <a:lstStyle/>
                    <a:p>
                      <a:r>
                        <a:rPr sz="2400" b="1">
                          <a:solidFill>
                            <a:srgbClr val="FFFFFF"/>
                          </a:solidFill>
                        </a:rPr>
                        <a:t>Module</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solidFill>
                      <a:schemeClr val="accent1"/>
                    </a:solidFill>
                  </a:tcPr>
                </a:tc>
                <a:tc>
                  <a:txBody>
                    <a:bodyPr/>
                    <a:lstStyle/>
                    <a:p>
                      <a:r>
                        <a:rPr sz="2400" b="1">
                          <a:solidFill>
                            <a:srgbClr val="FFFFFF"/>
                          </a:solidFill>
                        </a:rPr>
                        <a:t>The answer</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solidFill>
                      <a:schemeClr val="accent1"/>
                    </a:solidFill>
                  </a:tcPr>
                </a:tc>
                <a:extLst>
                  <a:ext uri="{0D108BD9-81ED-4DB2-BD59-A6C34878D82A}">
                    <a16:rowId xmlns:a16="http://schemas.microsoft.com/office/drawing/2014/main" val="10000"/>
                  </a:ext>
                </a:extLst>
              </a:tr>
              <a:tr h="457200">
                <a:tc>
                  <a:txBody>
                    <a:bodyPr/>
                    <a:lstStyle/>
                    <a:p>
                      <a:r>
                        <a:rPr sz="2400" b="1"/>
                        <a:t>1 · Pooled vs Stratified Analysis</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It grows toward the strong European-ancestry effect</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1"/>
                  </a:ext>
                </a:extLst>
              </a:tr>
              <a:tr h="457200">
                <a:tc>
                  <a:txBody>
                    <a:bodyPr/>
                    <a:lstStyle/>
                    <a:p>
                      <a:r>
                        <a:rPr sz="2400" b="1"/>
                        <a:t>2 · Within-Ancestry Testing vs Meta-Analysis</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It stays narrow and significant</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2"/>
                  </a:ext>
                </a:extLst>
              </a:tr>
              <a:tr h="457200">
                <a:tc>
                  <a:txBody>
                    <a:bodyPr/>
                    <a:lstStyle/>
                    <a:p>
                      <a:r>
                        <a:rPr sz="2400" b="1"/>
                        <a:t>3 · Global vs Local Ancestry Modeling</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Local ancestry interaction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platform:table:2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data said: modules 4–6</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Synthesis · What the room predicted, what the data said</a:t>
            </a:r>
          </a:p>
        </p:txBody>
      </p:sp>
      <p:graphicFrame>
        <p:nvGraphicFramePr>
          <p:cNvPr id="4" name="Table 3"/>
          <p:cNvGraphicFramePr>
            <a:graphicFrameLocks noGrp="1"/>
          </p:cNvGraphicFramePr>
          <p:nvPr/>
        </p:nvGraphicFramePr>
        <p:xfrm>
          <a:off x="841248" y="2240280"/>
          <a:ext cx="10515600" cy="3364992"/>
        </p:xfrm>
        <a:graphic>
          <a:graphicData uri="http://schemas.openxmlformats.org/drawingml/2006/table">
            <a:tbl>
              <a:tblPr>
                <a:tableStyleId>{2D5ABB26-0587-4C30-8999-92F81FD0307C}</a:tableStyleId>
              </a:tblPr>
              <a:tblGrid>
                <a:gridCol w="420624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tblGrid>
              <a:tr h="457200">
                <a:tc>
                  <a:txBody>
                    <a:bodyPr/>
                    <a:lstStyle/>
                    <a:p>
                      <a:r>
                        <a:rPr sz="2400" b="1">
                          <a:solidFill>
                            <a:srgbClr val="FFFFFF"/>
                          </a:solidFill>
                        </a:rPr>
                        <a:t>Module</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solidFill>
                      <a:schemeClr val="accent1"/>
                    </a:solidFill>
                  </a:tcPr>
                </a:tc>
                <a:tc>
                  <a:txBody>
                    <a:bodyPr/>
                    <a:lstStyle/>
                    <a:p>
                      <a:r>
                        <a:rPr sz="2400" b="1">
                          <a:solidFill>
                            <a:srgbClr val="FFFFFF"/>
                          </a:solidFill>
                        </a:rPr>
                        <a:t>The answer</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solidFill>
                      <a:schemeClr val="accent1"/>
                    </a:solidFill>
                  </a:tcPr>
                </a:tc>
                <a:extLst>
                  <a:ext uri="{0D108BD9-81ED-4DB2-BD59-A6C34878D82A}">
                    <a16:rowId xmlns:a16="http://schemas.microsoft.com/office/drawing/2014/main" val="10000"/>
                  </a:ext>
                </a:extLst>
              </a:tr>
              <a:tr h="457200">
                <a:tc>
                  <a:txBody>
                    <a:bodyPr/>
                    <a:lstStyle/>
                    <a:p>
                      <a:r>
                        <a:rPr sz="2400" b="1"/>
                        <a:t>4 · Local Ancestry and Model Complexity</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Global PCs and the local-ancestry covariate, but not the interaction model</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1"/>
                  </a:ext>
                </a:extLst>
              </a:tr>
              <a:tr h="457200">
                <a:tc>
                  <a:txBody>
                    <a:bodyPr/>
                    <a:lstStyle/>
                    <a:p>
                      <a:r>
                        <a:rPr sz="2400" b="1"/>
                        <a:t>5 · Polygenic Scores Across Ancestries</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The ancestry-aware PRS</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2"/>
                  </a:ext>
                </a:extLst>
              </a:tr>
              <a:tr h="457200">
                <a:tc>
                  <a:txBody>
                    <a:bodyPr/>
                    <a:lstStyle/>
                    <a:p>
                      <a:r>
                        <a:rPr sz="2400" b="1"/>
                        <a:t>6 · Scalable Inference and Who Can Afford It</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tc>
                  <a:txBody>
                    <a:bodyPr/>
                    <a:lstStyle/>
                    <a:p>
                      <a:r>
                        <a:rPr sz="2400" b="0"/>
                        <a:t>The standard GWAS scan and the local ancestry-aware scan, but not the permutation scan</a:t>
                      </a:r>
                    </a:p>
                  </a:txBody>
                  <a:tcPr marL="109728" marR="109728" marT="54864" marB="54864">
                    <a:lnL w="12700" cmpd="sng">
                      <a:solidFill>
                        <a:srgbClr val="E8E8E8"/>
                      </a:solidFill>
                    </a:lnL>
                    <a:lnR w="12700" cmpd="sng">
                      <a:solidFill>
                        <a:srgbClr val="E8E8E8"/>
                      </a:solidFill>
                    </a:lnR>
                    <a:lnT w="12700" cmpd="sng">
                      <a:solidFill>
                        <a:srgbClr val="E8E8E8"/>
                      </a:solidFill>
                    </a:lnT>
                    <a:lnB w="12700" cmpd="sng">
                      <a:solidFill>
                        <a:srgbClr val="E8E8E8"/>
                      </a:solidFill>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closing:thank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latin typeface="Poppins"/>
                <a:cs typeface="Poppins"/>
              </a:rPr>
              <a:t>Thank you</a:t>
            </a:r>
            <a:r>
              <a:rPr lang="en-US" b="1">
                <a:latin typeface="Poppins"/>
                <a:cs typeface="Poppins"/>
              </a:rPr>
              <a:t>!</a:t>
            </a:r>
          </a:p>
        </p:txBody>
      </p:sp>
      <p:sp>
        <p:nvSpPr>
          <p:cNvPr id="3" name="TextBox 2"/>
          <p:cNvSpPr txBox="1"/>
          <p:nvPr/>
        </p:nvSpPr>
        <p:spPr>
          <a:xfrm>
            <a:off x="841248" y="1691640"/>
            <a:ext cx="10515600" cy="411480"/>
          </a:xfrm>
          <a:prstGeom prst="rect">
            <a:avLst/>
          </a:prstGeom>
          <a:noFill/>
        </p:spPr>
        <p:txBody>
          <a:bodyPr wrap="square" lIns="0" tIns="0" rIns="0" bIns="0" anchor="t">
            <a:spAutoFit/>
          </a:bodyPr>
          <a:lstStyle/>
          <a:p>
            <a:pPr>
              <a:spcAft>
                <a:spcPts val="0"/>
              </a:spcAft>
            </a:pPr>
            <a:r>
              <a:rPr sz="2400" b="1" cap="all">
                <a:solidFill>
                  <a:schemeClr val="accent4"/>
                </a:solidFill>
              </a:rPr>
              <a:t>Workshop organizers</a:t>
            </a:r>
          </a:p>
        </p:txBody>
      </p:sp>
      <p:sp>
        <p:nvSpPr>
          <p:cNvPr id="4" name="TextBox 3"/>
          <p:cNvSpPr txBox="1"/>
          <p:nvPr/>
        </p:nvSpPr>
        <p:spPr>
          <a:xfrm>
            <a:off x="841248" y="2286000"/>
            <a:ext cx="4983480" cy="1371600"/>
          </a:xfrm>
          <a:prstGeom prst="rect">
            <a:avLst/>
          </a:prstGeom>
          <a:noFill/>
        </p:spPr>
        <p:txBody>
          <a:bodyPr wrap="square" lIns="0" tIns="0" rIns="0" bIns="0" anchor="t">
            <a:spAutoFit/>
          </a:bodyPr>
          <a:lstStyle/>
          <a:p>
            <a:pPr>
              <a:spcAft>
                <a:spcPts val="0"/>
              </a:spcAft>
            </a:pPr>
            <a:r>
              <a:rPr sz="2800" b="1"/>
              <a:t>Kynon J. Benjamin, PhD</a:t>
            </a:r>
          </a:p>
          <a:p>
            <a:pPr>
              <a:spcAft>
                <a:spcPts val="0"/>
              </a:spcAft>
            </a:pPr>
            <a:r>
              <a:rPr sz="2400" b="0"/>
              <a:t>Assistant Professor</a:t>
            </a:r>
          </a:p>
          <a:p>
            <a:pPr>
              <a:spcAft>
                <a:spcPts val="0"/>
              </a:spcAft>
            </a:pPr>
            <a:r>
              <a:rPr sz="2400" b="0"/>
              <a:t>HEART-GeN Lab</a:t>
            </a:r>
          </a:p>
        </p:txBody>
      </p:sp>
      <p:sp>
        <p:nvSpPr>
          <p:cNvPr id="5" name="TextBox 4"/>
          <p:cNvSpPr txBox="1"/>
          <p:nvPr/>
        </p:nvSpPr>
        <p:spPr>
          <a:xfrm>
            <a:off x="6099048" y="2286000"/>
            <a:ext cx="4983480" cy="1371600"/>
          </a:xfrm>
          <a:prstGeom prst="rect">
            <a:avLst/>
          </a:prstGeom>
          <a:noFill/>
        </p:spPr>
        <p:txBody>
          <a:bodyPr wrap="square" lIns="0" tIns="0" rIns="0" bIns="0" anchor="t">
            <a:spAutoFit/>
          </a:bodyPr>
          <a:lstStyle/>
          <a:p>
            <a:pPr>
              <a:spcAft>
                <a:spcPts val="0"/>
              </a:spcAft>
            </a:pPr>
            <a:r>
              <a:rPr sz="2800" b="1"/>
              <a:t>Minoli Perera, PharmD, PhD</a:t>
            </a:r>
          </a:p>
          <a:p>
            <a:pPr>
              <a:spcAft>
                <a:spcPts val="0"/>
              </a:spcAft>
            </a:pPr>
            <a:r>
              <a:rPr sz="2400" b="0"/>
              <a:t>Associate Professor</a:t>
            </a:r>
          </a:p>
          <a:p>
            <a:pPr>
              <a:spcAft>
                <a:spcPts val="0"/>
              </a:spcAft>
            </a:pPr>
            <a:r>
              <a:rPr sz="2400" b="0"/>
              <a:t>Perera Lab</a:t>
            </a:r>
          </a:p>
        </p:txBody>
      </p:sp>
      <p:sp>
        <p:nvSpPr>
          <p:cNvPr id="6" name="TextBox 5"/>
          <p:cNvSpPr txBox="1"/>
          <p:nvPr/>
        </p:nvSpPr>
        <p:spPr>
          <a:xfrm>
            <a:off x="841248" y="3611880"/>
            <a:ext cx="10515600" cy="914400"/>
          </a:xfrm>
          <a:prstGeom prst="rect">
            <a:avLst/>
          </a:prstGeom>
          <a:noFill/>
        </p:spPr>
        <p:txBody>
          <a:bodyPr wrap="square" lIns="0" tIns="0" rIns="0" bIns="0" anchor="t">
            <a:spAutoFit/>
          </a:bodyPr>
          <a:lstStyle/>
          <a:p>
            <a:pPr>
              <a:spcAft>
                <a:spcPts val="600"/>
              </a:spcAft>
            </a:pPr>
            <a:r>
              <a:rPr sz="2400" b="1">
                <a:solidFill>
                  <a:schemeClr val="accent1"/>
                </a:solidFill>
              </a:rPr>
              <a:t>Northwestern University Feinberg School of Medicine</a:t>
            </a:r>
          </a:p>
          <a:p>
            <a:pPr>
              <a:spcAft>
                <a:spcPts val="600"/>
              </a:spcAft>
            </a:pPr>
            <a:r>
              <a:rPr sz="2400" b="1"/>
              <a:t>Funding: </a:t>
            </a:r>
            <a:r>
              <a:rPr sz="2400" b="0"/>
              <a:t>NIH NIMHD R00MD016964 (KJMB)</a:t>
            </a:r>
          </a:p>
        </p:txBody>
      </p:sp>
      <p:pic>
        <p:nvPicPr>
          <p:cNvPr id="7" name="Picture 6" descr="heart-gen.png"/>
          <p:cNvPicPr>
            <a:picLocks noChangeAspect="1"/>
          </p:cNvPicPr>
          <p:nvPr/>
        </p:nvPicPr>
        <p:blipFill>
          <a:blip r:embed="rId2"/>
          <a:stretch>
            <a:fillRect/>
          </a:stretch>
        </p:blipFill>
        <p:spPr>
          <a:xfrm>
            <a:off x="817983" y="5349240"/>
            <a:ext cx="2860133" cy="685800"/>
          </a:xfrm>
          <a:prstGeom prst="rect">
            <a:avLst/>
          </a:prstGeom>
        </p:spPr>
      </p:pic>
      <p:pic>
        <p:nvPicPr>
          <p:cNvPr id="8" name="Picture 7" descr="feinberg.png"/>
          <p:cNvPicPr>
            <a:picLocks noChangeAspect="1"/>
          </p:cNvPicPr>
          <p:nvPr/>
        </p:nvPicPr>
        <p:blipFill>
          <a:blip r:embed="rId3"/>
          <a:stretch>
            <a:fillRect/>
          </a:stretch>
        </p:blipFill>
        <p:spPr>
          <a:xfrm>
            <a:off x="4226757" y="5349240"/>
            <a:ext cx="3611551" cy="685800"/>
          </a:xfrm>
          <a:prstGeom prst="rect">
            <a:avLst/>
          </a:prstGeom>
        </p:spPr>
      </p:pic>
      <p:pic>
        <p:nvPicPr>
          <p:cNvPr id="9" name="Picture 8" descr="nimhd.png"/>
          <p:cNvPicPr>
            <a:picLocks noChangeAspect="1"/>
          </p:cNvPicPr>
          <p:nvPr/>
        </p:nvPicPr>
        <p:blipFill>
          <a:blip r:embed="rId4"/>
          <a:stretch>
            <a:fillRect/>
          </a:stretch>
        </p:blipFill>
        <p:spPr>
          <a:xfrm>
            <a:off x="8386948" y="5349240"/>
            <a:ext cx="2993164" cy="685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ASHG Colors">
      <a:dk1>
        <a:srgbClr val="000000"/>
      </a:dk1>
      <a:lt1>
        <a:srgbClr val="FFFFFF"/>
      </a:lt1>
      <a:dk2>
        <a:srgbClr val="3D1B72"/>
      </a:dk2>
      <a:lt2>
        <a:srgbClr val="E8E8E8"/>
      </a:lt2>
      <a:accent1>
        <a:srgbClr val="802072"/>
      </a:accent1>
      <a:accent2>
        <a:srgbClr val="0079BE"/>
      </a:accent2>
      <a:accent3>
        <a:srgbClr val="00C2D4"/>
      </a:accent3>
      <a:accent4>
        <a:srgbClr val="CB1463"/>
      </a:accent4>
      <a:accent5>
        <a:srgbClr val="B97CB3"/>
      </a:accent5>
      <a:accent6>
        <a:srgbClr val="9C27B0"/>
      </a:accent6>
      <a:hlink>
        <a:srgbClr val="0079BE"/>
      </a:hlink>
      <a:folHlink>
        <a:srgbClr val="0079BE"/>
      </a:folHlink>
    </a:clrScheme>
    <a:fontScheme name="Office">
      <a:majorFont>
        <a:latin typeface="Poppins"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SHG_2026-Meeting_Presentation-Template_v2" id="{133A966B-E252-CC48-AC7A-CBACD1DAEADF}" vid="{5196C0CB-8F14-B64C-8AE1-058E5E4F7F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86AD4C6FB3904FB4609D4219665ACE" ma:contentTypeVersion="19" ma:contentTypeDescription="Create a new document." ma:contentTypeScope="" ma:versionID="8c4b881d9c71de9d67cf55ac92bddba0">
  <xsd:schema xmlns:xsd="http://www.w3.org/2001/XMLSchema" xmlns:xs="http://www.w3.org/2001/XMLSchema" xmlns:p="http://schemas.microsoft.com/office/2006/metadata/properties" xmlns:ns2="70ea2ee2-4c99-46ca-a792-c761d070e4a5" xmlns:ns3="bd1495d9-dd84-4863-939f-1a6491f2b40a" targetNamespace="http://schemas.microsoft.com/office/2006/metadata/properties" ma:root="true" ma:fieldsID="09c5af080f197a286874686798b0e5ce" ns2:_="" ns3:_="">
    <xsd:import namespace="70ea2ee2-4c99-46ca-a792-c761d070e4a5"/>
    <xsd:import namespace="bd1495d9-dd84-4863-939f-1a6491f2b40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2:MediaServiceLocation"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ea2ee2-4c99-46ca-a792-c761d070e4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15f6b0c-865f-4deb-9f25-59892170734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1495d9-dd84-4863-939f-1a6491f2b40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9e99d7b-dc28-49bc-87fd-42e5b575e48b}" ma:internalName="TaxCatchAll" ma:showField="CatchAllData" ma:web="bd1495d9-dd84-4863-939f-1a6491f2b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0ea2ee2-4c99-46ca-a792-c761d070e4a5">
      <Terms xmlns="http://schemas.microsoft.com/office/infopath/2007/PartnerControls"/>
    </lcf76f155ced4ddcb4097134ff3c332f>
    <TaxCatchAll xmlns="bd1495d9-dd84-4863-939f-1a6491f2b40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275879-947A-4287-AC9D-412154D2CD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ea2ee2-4c99-46ca-a792-c761d070e4a5"/>
    <ds:schemaRef ds:uri="bd1495d9-dd84-4863-939f-1a6491f2b4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FF33C4-C9A6-4F7B-B3A4-1CEA2444D80A}">
  <ds:schemaRefs>
    <ds:schemaRef ds:uri="0989c8c5-3ecf-4741-ac27-4eafdcdb0eb5"/>
    <ds:schemaRef ds:uri="e85e54c3-ecd7-43bc-a601-368b4442b234"/>
    <ds:schemaRef ds:uri="http://schemas.microsoft.com/office/2006/metadata/properties"/>
    <ds:schemaRef ds:uri="http://schemas.microsoft.com/office/infopath/2007/PartnerControls"/>
    <ds:schemaRef ds:uri="70ea2ee2-4c99-46ca-a792-c761d070e4a5"/>
    <ds:schemaRef ds:uri="bd1495d9-dd84-4863-939f-1a6491f2b40a"/>
  </ds:schemaRefs>
</ds:datastoreItem>
</file>

<file path=customXml/itemProps3.xml><?xml version="1.0" encoding="utf-8"?>
<ds:datastoreItem xmlns:ds="http://schemas.openxmlformats.org/officeDocument/2006/customXml" ds:itemID="{E7641684-0CDD-469D-9096-B75366F9F2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TotalTime>
  <Words>354</Words>
  <Application>Microsoft Office PowerPoint</Application>
  <PresentationFormat>Widescreen</PresentationFormat>
  <Paragraphs>64</Paragraphs>
  <Slides>46</Slides>
  <Notes>33</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Modeling Choices in Omics</vt:lpstr>
      <vt:lpstr>Financial Disclosure</vt:lpstr>
      <vt:lpstr>Unlabeled/Investigational Uses</vt:lpstr>
      <vt:lpstr>Join the platform</vt:lpstr>
      <vt:lpstr>Two-hour agenda</vt:lpstr>
      <vt:lpstr>How the modules work</vt:lpstr>
      <vt:lpstr>Pooled vs Stratified Analysis</vt:lpstr>
      <vt:lpstr>Pooled vs Stratified Analysis: the answer</vt:lpstr>
      <vt:lpstr>Module 1: Effect estimates at 35% European ancestry</vt:lpstr>
      <vt:lpstr>Module 1: Effect estimates at 95% European ancestry</vt:lpstr>
      <vt:lpstr>Module 1: Power curve at 95% European ancestry</vt:lpstr>
      <vt:lpstr>Genomics today</vt:lpstr>
      <vt:lpstr>Genomics today</vt:lpstr>
      <vt:lpstr>PowerPoint Presentation</vt:lpstr>
      <vt:lpstr>Within-Ancestry Testing vs Meta-Analysis</vt:lpstr>
      <vt:lpstr>Within-Ancestry Testing vs Meta-Analysis: the answer</vt:lpstr>
      <vt:lpstr>Module 2: Forest plot at 0% heterogeneity</vt:lpstr>
      <vt:lpstr>Module 2: Forest plot at 100% heterogeneity</vt:lpstr>
      <vt:lpstr>PowerPoint Presentation</vt:lpstr>
      <vt:lpstr>Opposite effects by ancestry: which model detects them?</vt:lpstr>
      <vt:lpstr>Global vs Local Ancestry Modeling</vt:lpstr>
      <vt:lpstr>Global vs Local Ancestry Modeling: the answer</vt:lpstr>
      <vt:lpstr>Module 3: Does each model detect the locus?</vt:lpstr>
      <vt:lpstr>Module 3: Regional signal under each model</vt:lpstr>
      <vt:lpstr>Local Ancestry Inference</vt:lpstr>
      <vt:lpstr>PowerPoint Presentation</vt:lpstr>
      <vt:lpstr>PowerPoint Presentation</vt:lpstr>
      <vt:lpstr>Local Ancestry and Model Complexity</vt:lpstr>
      <vt:lpstr>Local Ancestry and Model Complexity: the answer</vt:lpstr>
      <vt:lpstr>Module 4: Does each model detect the locus?</vt:lpstr>
      <vt:lpstr>Module 4: Power by model and sample size</vt:lpstr>
      <vt:lpstr>Polygenic Scores Across Ancestries</vt:lpstr>
      <vt:lpstr>Polygenic Scores Across Ancestries: the answer</vt:lpstr>
      <vt:lpstr>Module 5: Calibration at the starting shrinkage</vt:lpstr>
      <vt:lpstr>Module 5: Calibration at the strongest shrinkage</vt:lpstr>
      <vt:lpstr>Polygenic Risk Scores: Cohorts used to inform PRS</vt:lpstr>
      <vt:lpstr>PowerPoint Presentation</vt:lpstr>
      <vt:lpstr>Scalable Inference and Who Can Afford It</vt:lpstr>
      <vt:lpstr>Scalable Inference and Who Can Afford It: the answer</vt:lpstr>
      <vt:lpstr>Module 6: One-week feasibility on one RM node</vt:lpstr>
      <vt:lpstr>Module 6: One-week feasibility on one GPU node</vt:lpstr>
      <vt:lpstr>Same code on CPU or GPU</vt:lpstr>
      <vt:lpstr>Genetics tools that already scale</vt:lpstr>
      <vt:lpstr>What the data said: modules 1–3</vt:lpstr>
      <vt:lpstr>What the data said: modules 4–6</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Choices in Omics: Implications for Health Disparities in Human Genetics (ASHG 2026)</dc:title>
  <dc:subject/>
  <dc:creator>Kynon J. Benjamin; Minoli Perera</dc:creator>
  <cp:keywords/>
  <dc:description/>
  <cp:lastModifiedBy>Kynon J. Benjamin; Minoli Perera</cp:lastModifiedBy>
  <cp:revision>111</cp:revision>
  <dcterms:created xsi:type="dcterms:W3CDTF">2026-07-20T19:34:24Z</dcterms:created>
  <dcterms:modified xsi:type="dcterms:W3CDTF">2026-10-18T19:53:58Z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a40bfbb-6c90-4a62-9b49-2c1e34e8c35f_Enabled">
    <vt:lpwstr>true</vt:lpwstr>
  </property>
  <property fmtid="{D5CDD505-2E9C-101B-9397-08002B2CF9AE}" pid="3" name="MSIP_Label_3a40bfbb-6c90-4a62-9b49-2c1e34e8c35f_SetDate">
    <vt:lpwstr>2026-07-20T19:36:00Z</vt:lpwstr>
  </property>
  <property fmtid="{D5CDD505-2E9C-101B-9397-08002B2CF9AE}" pid="4" name="MSIP_Label_3a40bfbb-6c90-4a62-9b49-2c1e34e8c35f_Method">
    <vt:lpwstr>Standard</vt:lpwstr>
  </property>
  <property fmtid="{D5CDD505-2E9C-101B-9397-08002B2CF9AE}" pid="5" name="MSIP_Label_3a40bfbb-6c90-4a62-9b49-2c1e34e8c35f_Name">
    <vt:lpwstr>defa4170-0d19-0005-0004-bc88714345d2</vt:lpwstr>
  </property>
  <property fmtid="{D5CDD505-2E9C-101B-9397-08002B2CF9AE}" pid="6" name="MSIP_Label_3a40bfbb-6c90-4a62-9b49-2c1e34e8c35f_SiteId">
    <vt:lpwstr>566daa24-69bb-4ac6-b6bf-7dab26ca6b3e</vt:lpwstr>
  </property>
  <property fmtid="{D5CDD505-2E9C-101B-9397-08002B2CF9AE}" pid="7" name="MSIP_Label_3a40bfbb-6c90-4a62-9b49-2c1e34e8c35f_ActionId">
    <vt:lpwstr>7f4f681b-e6fe-4528-bdc7-6cb0c417fd10</vt:lpwstr>
  </property>
  <property fmtid="{D5CDD505-2E9C-101B-9397-08002B2CF9AE}" pid="8" name="MSIP_Label_3a40bfbb-6c90-4a62-9b49-2c1e34e8c35f_ContentBits">
    <vt:lpwstr>0</vt:lpwstr>
  </property>
  <property fmtid="{D5CDD505-2E9C-101B-9397-08002B2CF9AE}" pid="9" name="MSIP_Label_3a40bfbb-6c90-4a62-9b49-2c1e34e8c35f_Tag">
    <vt:lpwstr>10, 3, 0, 1</vt:lpwstr>
  </property>
  <property fmtid="{D5CDD505-2E9C-101B-9397-08002B2CF9AE}" pid="10" name="ContentTypeId">
    <vt:lpwstr>0x0101008586AD4C6FB3904FB4609D4219665ACE</vt:lpwstr>
  </property>
  <property fmtid="{D5CDD505-2E9C-101B-9397-08002B2CF9AE}" pid="11" name="MediaServiceImageTags">
    <vt:lpwstr/>
  </property>
</Properties>
</file>